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cours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LEARNER GUIDE  · 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Agentic AI Automation with n8n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93192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TGS-2023035977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trainer/administrator will display the digital attendance QR code generated from the SSG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Scan the QR code with your mobile phone camera and submit your attendance.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Dr. Alfred Ang — Principal Trainer, Tertiary Infotech Academy Pte. Ltd.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PhD; specialises in Artificial Intelligence, automation and software engineering.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Designs and delivers WSQ courses on AI agents, automation (n8n) and app development.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Your name and organisation / role.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Your experience with automation or AI tools (if any).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What you want to automate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One conversation at a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Step out quietly for calls or toilet breaks.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LMS / TMS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Access your course materials, attendance and assessment on the LMS/TMS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Portal: https://lms-tms.tertiaryinfotech.com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Download the slides and Learner Guide for reference during the open-book assessment.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3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3 &amp; timing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Day 1 — Workflow Automation + AI Agents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Topic 1: n8n basics + Activities 1, 2, 3a, 3b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Topic 2: AI Agents — Activities 4a, 4b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Day 2 — RAG, Webhooks, APIs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RAG (Activity 5)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Webhooks (Activity 6) · APIs (Activity 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Day 3 — Security &amp; Capstone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Human-in-the-loop + Guardrails (Activity 8)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Mini Capstone + presentations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Daily timing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9:30am–6:30pm · 1-hour lunch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Short tea breaks within each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LO1: Build automated workflows in n8n using triggers, actions, nodes and 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LO2: Design AI agents with LLMs, memory and tools, triggered from chat / Telegram.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LO3: Apply Retrieval-Augmented Generation (RAG) to ground agents in your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LO4: Integrate external systems via webhooks, APIs and HTTP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LO5: Apply human-in-the-loop and guardrails to secure agentic automations.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Written Assessment (SAQ)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Format: Open Book — slides, Learner Guide and approved materials only.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mini capstone project is presented on Day 3.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a black/blue pen for hard-copy assessments.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 liquid paper / correction tape.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Workflow Automation with n8n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Triggers · Actions · Nodes ·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workflow automation platform — connect apps and services with little or no code.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Visual editor: drag nodes onto a canvas and wire them together.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Runs in the cloud (trial) or self-hosted locally with Docker.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400+ integrations, HTTP/code nodes, and AI/LangChain nodes for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Features of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Build visually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400+ app integrations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Drag-and-drop node canvas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No-code to full-code (JS/Python)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Run anywhere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Cloud or self-host (Docker)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Webhooks, schedules, queues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Version &amp; export workflows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AI-native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AI Agent + LangChain nodes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Memory, tools, RAG, MCP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Use any LLM (OpenAI, Gemini...)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USE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One canvas to connect apps, data and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2976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n8n lets you automate work and build AI agents without gluing code together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n8n.io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n8n is an open, fair-code workflow automation platform.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Free cloud trial at n8n.io, or self-host with Docker.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Same visual editor in both.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n8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Automate?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Remove repetitive manual work and human error.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Connect systems that don't normally talk to each other.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React to events in real time (forms, webhooks, schedules).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Add AI to make workflows understand language and make decisions.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GET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Setting Up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Option A — Cloud trial: sign up at n8n.io and start in the editor immediately.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Option B — Local Docker Compose (persistent): docker compose up -d → http://localhost:5678.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Trial Data Tables are not permanent — store anything you keep externally (Google Sheets).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See labs/n8n-installation/docker-compose.yml in the course repo.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ACCOUNTS &amp;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Credential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Add credentials once under Credentials → Add credential.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Gmail / Outlook (OAuth2) for email; OpenAI / Gemini for AI.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Telegram bot token (from @BotFather); Google Sheets (OAuth2).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Imported workflows reference credential names — re-select your own after importing.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UI TOUR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n8n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Canvas — where you place and connect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Node panel — search 400+ nodes by name.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Execute Workflow — run and inspect data at each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node shows input and output data as 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n8n Nodes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Triggers &amp;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Logic &amp;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Trigger nodes — start a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Form, Webhook, Telegram, Schedule, Manual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Action nodes — do something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Gmail, Google Sheets, HTTP Request, Data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Logic nodes — control the 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IF, Switch, Merge, Split Out, Code, Edit Fields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AI nodes — reason and act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AI Agent, Chat Model, Memory, Vector Store,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WHEN A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Triggers Available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Core triggers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Chat &amp; app triggers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Manual Trigger - run on demand (testing)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Schedule Trigger - run on a timer / cron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Form Trigger - a hosted web form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Webhook - external apps call a URL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Chat Trigger - built-in chat UI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Telegram Trigger - messages to your bot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Email (IMAP) - on new email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App triggers - Gmail, Sheets, Notion, 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WORKHORSE NODES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Nodes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Logic &amp;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HTTP Request - call any API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Gmail / Outlook - send email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Google Sheets / Data Table - store rows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Code - run JavaScript / Python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Edit Fields (Set) - reshape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IF / Switch - branch on conditions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Merge / Split Out - combine / expand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AI Agent - reason with tools + memory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Vector Store - RAG retrieval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Respond to Webhook - reply to caller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CORE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Triggers and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Trigger is the first node — it decides WHEN a workflow runs.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Manual &amp; Schedule triggers for testing and time-based jobs.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Form, Webhook and Telegram triggers respond to external events.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Actions run after the trigger — send email, store data, call an 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IT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Execution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Test execution — run manually in the editor to inspect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Production execution — runs automatically when Active.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run is recorded in the Execution History for debugging.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Structure &amp;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Data flows between nodes as a list of items, each a JSON object.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item has a json field with key/value pairs.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Nodes read the previous node's output and add 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DATA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JSON?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JSON (JavaScript Object Notation) is a simple text format for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stores key/value pairs:  { "name": "Alice", "age": 30 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Values can be text, numbers, true/false, lists [...] or nested objects {...}.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n8n passes data between nodes as JSON - and most APIs send/receive JSON.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Read a value with an expression, e.g.  {{ $json.name }}.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DATA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Expressions &amp; Data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Expressions pull data from earlier nodes: {{ $json.Name }}.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Drag fields from the input panel to map them automatically.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expressions in any field — subject lines, URLs,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DEBUGGING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Pin Data &amp; Execution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Pin data to freeze a node's output while you build downstream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Edit output to test different scenarios without re-running triggers.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Execution History shows every run, its data, and any errors.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SHAPING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Transforming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Edit Fields (Set) — add, rename or reshape fields.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Code node — run JavaScript/Python for custom logic.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Split Out — turn one item with a list into many items.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Merge — combine data from two branches (append, combine, choose).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Conditional Logic — IF &amp; Switch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IF node — two outputs: true and false, based on a condition.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Switch node — many outputs for multiple cases.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them to route submissions, approvals, or message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Sub-Workflows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Break big automations into reusable smaller workflows.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Call a sub-workflow with the Execute Workflow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Keeps workflows readable and lets you reuse common logic.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Collect a visitor's details with an n8n Form and email them to an admin, then turn the form URL into a QR code on an event flyer (group activity).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Gmail (Send)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1-Flyer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847" y="1691640"/>
            <a:ext cx="990600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Trigger → Gmail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Create a new workflow and add an n8n Form Trigger; set a Form Title.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four fields: Name, Email, Phone, Message (mark Name &amp; Email required).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Gmail node (Send a Message) after the Form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Set To = admin address, Subject = New RSVP from {{ $json.Name }}, and a body using the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Select your Gmail credential, Save, and toggle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Copy the Form's Production URL; paste it into the QR generator (alfredang.github.io/qrcodegenerator) and put the QR on a flyer.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Group activity: design an event flyer (e.g. bowling night) with the QR code, then present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Scan the QR code, submit the form, and confirm the admin inbox receives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GROUP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Sample Flyers from Past Students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yer-sample1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3261360" cy="18345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440680"/>
            <a:ext cx="353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Network event</a:t>
            </a:r>
          </a:p>
        </p:txBody>
      </p:sp>
      <p:pic>
        <p:nvPicPr>
          <p:cNvPr id="9" name="Picture 8" descr="flyer-sample2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080" y="1828800"/>
            <a:ext cx="3261360" cy="18372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12920" y="5440680"/>
            <a:ext cx="353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Event poster</a:t>
            </a:r>
          </a:p>
        </p:txBody>
      </p:sp>
      <p:pic>
        <p:nvPicPr>
          <p:cNvPr id="11" name="Picture 10" descr="flyer-sample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3099" y="1828800"/>
            <a:ext cx="2146681" cy="3383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48600" y="5440680"/>
            <a:ext cx="353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Bowling party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Extend Activity 1 so every submission is also saved into an n8n Data Table — your first taste of storing data, not just forwarding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Gmail  +  Data Table (Insert row)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gmail, dataTable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2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6968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→ Gmail +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In n8n open Data Tables and create a table 'RSVPs' with columns Name, Email, Phone,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Continue from your Activity 1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Data Table node (Insert Row) connected after the Form Trigger, alongside Gmail.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Map each form field to its column with expressions, e.g. Name → {{ $json.Name }}.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the form and confirm a new row appears in the RSVPs Data Table and the email still sends.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decision-making with an IF node. If the visitor is attending, save the date to the Data Table; if not, send a polite thank-you email.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IF  →  Data Table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dataTable,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a-Conditional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80" y="1691640"/>
            <a:ext cx="7400134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Data Table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Attending? field (Yes/No dropdown) to the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IF node after the Form Trigger: condition {{ $json.Attending }} equals Yes.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the true output, add a Data Table → Insert Row to save the RSVP.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the false output, add a Gmail node sending a friendly thank-you.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once with Attending = Yes (new Data Table row) and once with No (thank-you email).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Make data persistent by replacing the Data Table with Google Sheets (or Excel). Same logic — the Yes branch appends a row to a real spreadsheet you keep.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IF  →  Google Sheets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googleSheets,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b-Conditional-Google-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569" y="1691640"/>
            <a:ext cx="9444556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Google Sheets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Create a Google Sheet 'Event RSVPs' with a header row: Name, Email, Phone, Date.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Google Sheets credential (OAuth2) in n8n and authorise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Take Activity 3a; on the true branch replace the Data Table with a Google Sheets → Append Row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Select your spreadsheet and sheet, then map each column to the form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Leave the false branch (thank-you email) unchanged; 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with Attending = Yes and confirm a new row is appended to your Google Sheet.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  ·  see you at 2:00 pm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 Agents and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LLM · Memory · Tools · System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Agentic AI?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Traditional automation follows fixed rules you wire by hand.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AI agent uses an LLM to understand language and decide what to do.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can call tools, remember context, and handle open-ended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Agentic = the AI takes actions toward a goal, not just answers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WHY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Use an AI Agent?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Understands 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Handles free-text requests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No rigid forms or keywords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Summarises &amp; reasons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Takes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Calls tools &amp; APIs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Looks up your data (RAG)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Chains multiple steps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Flexible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One agent, many questions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Adapts to new cases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Easy to extend with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BRAINS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Popular LLM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Hosted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Open &amp; course default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OpenAI - gpt-4.1, gpt-4.1-mini, gpt-4o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Google - Gemini 2.x Flash / Pro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Anthropic - Claude (Sonnet, Opus, Haiku)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Meta - Llama 3.x (open weights)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Mistral - Mistral / Mixtral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This course uses OpenAI gpt-4.1-mini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Agent Using an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LLM is the 'brain' that interprets the user and plans a response.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Tools give the agent abilities (look up data, search, call an API).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Memory lets it hold a conversation across messages.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system instruction sets its role, tone and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PIECES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Agent Concepts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Model &amp;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Tools &amp; Instruction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LLM — generates the replies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OpenAI gpt-4.1-mini or Google Gemini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Memory — recalls the conversation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Simple / window buffer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Tools — actions the agent can call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Data Table, Vector Store, HTTP, sub-workflow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System Instruction — role &amp; rules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Persona, scope, and do/don't guidance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INSTRUCTION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Creating System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State the agent's role: 'You are an HR admin assistant.'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Give scope and limits: what it should and shouldn't answer.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Tell it which tool to use for which kind of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Keep it concise, specific and testable.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BEST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Agent Instruction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Be explicit about routing between multiple tools/sources.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Ask for a clear format when you need structured output.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Tell it to say 'I don't know' rather than invent answers.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Iterate: test with real questions and refine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EXTENDING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Memory &amp;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Add memory so follow-up questions keep context.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Attach tools to the agent's Tool input; describe each tool clearly.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agent decides when to call a tool based on your description.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All agents in this course use OpenAI gpt-4.1-mini.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your first AI agent: a customer-service chatbot you talk to from Telegram, using an LLM, memory and a system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Trigger  →  AI Agent (+ model + memory)  →  Telegram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telegramTrigger, agent, lmChatOpenAi, memory,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a-Telegram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49" y="1691640"/>
            <a:ext cx="10150797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Telegram-triggered AI agent with model +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In Telegram, open @BotFather → /newbot, then copy the bot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Telegram credential in n8n and paste the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Telegram Trigger node (fires on each message).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AI Agent node after the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Attach an OpenAI Chat Model (gpt-4.1-mini) and a Simple Memory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Write the system instruction (friendly customer-service assistant).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Telegram → Send Message: Chat ID = {{ $json.message.chat.id }}, Text = the agent output.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your bot in Telegram and confirm it replies.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Give the agent a tool: an employee Data Table it can query. The same bot now answers HR-admin questions from real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 →  AI Agent  +  Data Table Tool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dataTableTool,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b-Telegram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85" y="1691640"/>
            <a:ext cx="974272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with a Data Table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Create a Data Table 'Employees' and upload the provided employees.csv (100 records).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your Activity 4a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Data Table Tool and attach it to the AI Agent's Tool input.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Point the tool at the Employees table and describe it (look up staff by name/department).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Update the system instruction to use the Employees tool for staff questions.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'Which department is &lt;a name from the CSV&gt; in?' and confirm it answers from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 of Day 1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built form automations, conditional logic and data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created a Telegram AI agent with memory and a Data Table tool.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Tomorrow: RAG, Webhooks and external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 (cont.)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Tokenization · Embeddings · Vector Stores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RAG?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RAG lets an agent answer from YOUR documents, not just its training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Documents are split, embedded and stored; relevant chunks are retrieved per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Reduces hallucination and keeps answers grounded and current.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Text Embedding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Tokenization splits text into tokens the model can process.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embedding turns a chunk of text into a vector (list of numbers).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Similar meanings produce vectors that are close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VECTOR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Vectors are stored in a vector store (in-memory, Pinecone, etc.).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At query time, the question is embedded and the closest chunks are retrieved.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Those chunks are given to the LLM as context to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RAG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g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386" y="1691640"/>
            <a:ext cx="8262923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User → Prompt → Data Retrieval (search/retrieve over your data sources) → Generator →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Upgrade the agent to answer from documents (policies/FAQs) AND the Data Table. It must route to the right source for each question — two knowledge sources, one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 →  AI Agent  +  Vector Store (RAG) + Data Table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vectorStoreInMemory, embeddingsOpenAi, dataTableTool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5-RAG-Tele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140" y="1691640"/>
            <a:ext cx="706741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routes between a RAG vector store and a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Prepare documents: use MyCompany-HR-SOP.docx / IT-Support-FAQ.docx, or generate FAQs with Claude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Build the ingestion path: upload → Embeddings (OpenAI) → Vector Store (Insert) with a Default Data Loader.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In your Telegram agent, add a Vector Store retrieval tool alongside the Data Table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Rewrite the system instruction to route: knowledge base for policy/FAQ, Data Table for staff records.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Active; have a few learners present their chatbot.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a policy question and a staff-record question; confirm each is answered from the correct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WHY PINECONE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In-Memory to a Real 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in-memory store resets when the workflow restarts - fine for a demo.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For production, use a hosted vector database that persists your embeddings.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Pinecone is a popular managed vector database that scales to millions of vectors.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Same idea: embed your documents once, then retrieve the closest chunks per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VECTOR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Pinecone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Pinecone is a managed (cloud) vector database for RAG.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Free 'Starter' tier is enough for this lab.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Create an index, then point n8n's Pinecone node at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pine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Pinecone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1. Sign up at pinecone.io and open the console.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2. Create an API key (Database -&gt; API Keys) - you'll paste it into n8n.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3. Create an Index: give it a name (e.g. n8n-course).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4. Set Dimensions to match your embeddings - OpenAI text-embedding-3-small = 1536.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5. Use metric 'cosine'. The index name + key go into the n8n Pinecone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5b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Swap the in-memory vector store for Pinecone so your knowledge base persists. Upload documents into a Pinecone index, then let the Telegram agent answer from it via a Vector Store tool.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Upload -&gt; Embeddings (OpenAI) -&gt; Pinecone (insert)   |   Telegram -&gt; AI Agent + Pinecone tool -&gt;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vectorStorePinecone, embeddingsOpenAi, toolVectorStore,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- Pinecone RAG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5b-Pinecone-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691640"/>
            <a:ext cx="665683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Telegram agent answering from a Pinecone vector store (gpt-4.1-mini)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Sign up at pinecone.io (free Starter tier) and open the console at app.pinecone.io.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Go to API Keys → create / copy an API key — paste it into n8n later.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Indexes → Create index; name it n8n-course.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Set Dimensions = 1536 and Metric = cosine, then create the index.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Activity5b-Pinecone-Upload.json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Pinecone credential and select your n8n-course index on the Pinecone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your OpenAI credential on the Embeddings node; provide documents and run to insert into Pinecone.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Activity5b-Pinecone-RAG.json (Telegram → AI Agent + Pinecone tool → reply).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9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Select the same Pinecone index and credential, your OpenAI (gpt-4.1-mini) and Telegram credentials.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10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toggle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Upload a document, then ask the Telegram bot a question only answerable from it - the answer is retrieved from Pinecone.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Webhooks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External triggers for your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Webhook is a URL that external systems call to trigger your workflow.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cases: website chat, form submissions, payments, app notifications.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Pair the Webhook trigger with a Respond to Webhook node to reply.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EVENT -&gt;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 Webhook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1. You activate an n8n Webhook node - it gives you a unique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2. An external system (website, app, Telegram) sends an HTTP request to that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3. n8n runs your workflow with the request data as the trigger input.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4. A Respond to Webhook node sends a reply back to the caller.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is 'reverse' of an API call: the outside world calls YOU when an event happens.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TWO WAYS TO SEND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Webhook: GET vs POST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GET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Data comes in the URL query string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?name=Alice&amp;topic=AI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Good for simple links / browser visits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POST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Data comes in the request body (JSON)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{ "message": "hello" }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Used by website chat &amp; app callbacks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DIRECTION OF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HTTP Request vs Webhook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Outbound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Inbound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HTTP Request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YOUR workflow CALLS an external service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You pull data when you choose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Webhook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An external service CALLS your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You react when an event happens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Webhook Node &amp; URL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Webhook node has a Test URL and a Production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Set the HTTP method (GET/POST) and a path.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Set Allowed Origins (CORS) to * so a browser page can call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SECURING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Webhook Authentication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None — open endpoint (fine for demos).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Basic Auth — username &amp; password.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Header Auth — a secret key in a request header.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JWT — signed tokens for stronger security.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Expose an AI agent to a public website via a Webhook. The Investment Advisor page has an enquiry form and a floating chatbot; both post to one n8n webhook.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Webhook  →  AI Agent  →  Respond to Webhook  (+ email the advisor)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agent, respondToWebhook,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6-Investment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webhook, two paths: enquiry email + AI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Activity6-Investment-Advisor.json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the Webhook node(s) and set Allowed Origins (CORS) to *.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Re-select your OpenAI and Gmail credentials on the agent and email nodes.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Review the compliance system instruction (no guaranteed returns, no personalised advice).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Save, Activate, and copy the webhook Production URL.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index.html, click the gear, and paste your webhook URL; have learners present their site.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On the website, send a chat message and submit the enquiry form; confirm the bot replies and the advisor gets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API and HTTP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Pull live data from external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an API?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API lets your workflow request data from another service over HTTP.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send a request; the service sends back a response (usually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APIs power live data: prices, weather, news, CRM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WORKFLOW -&gt;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an API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1. Your workflow (the client) sends an HTTP request to an API endpoint (URL).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2. You include a method, headers (often an API key) and parameters.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3. The server processes it and returns a response - usually JSON.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4. n8n parses the JSON and passes the fields to the next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Here, YOU call the outside service (the opposite of a webhook).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TWO MAIN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API: GET vs POST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GET - read data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Fetch prices, news, records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Parameters in the URL query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Safe &amp; repeatable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POST - send / create data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Submit a form, create a record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Parameters in the JSON body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Changes data on the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Components of an HTTP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Method — GET (read), POST (send), PUT, DELETE.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URL / endpoint — the address of the resource.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Headers — metadata, including authentication.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Query params / body — the inputs you send.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READING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HTTP Response &amp; Status Codes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Body — the data returned (often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200 OK — success; 201 Created.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401 Unauthorized — bad/missing API key; 429 — rate limited.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4xx = your request; 5xx = the server.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HTTP Request Node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Configure method, URL, headers and query parameters.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Store API keys in credentials, never hard-coded.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Parse the JSON response and pass fields to the next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MARKET DATA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Twelve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Twelve Data provides live stock / forex / crypto market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Sign up (free Basic plan), then Account -&gt; API Keys.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Paste the apikey into the 3 'candles' HTTP nodes.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twelve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NEWS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NewsAPI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NewsAPI returns recent news articles for a search query.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Register (free Developer plan) and copy your API key.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Store it as a Query Auth credential (name = apiKey) on the news node.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news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Ask the Telegram bot about a stock; it resolves the ticker, pulls candles from Twelve Data and headlines from NewsAPI, and replies with a Buy/Sell/Hold call and reasoning.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→ Extract ticker → HTTP (Twelve Data + NewsAPI) → AI Agent →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telegram, httpRequest, agent, lmChatOpenAi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7-Finance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Multi-timeframe candles + news → AI day-trading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Sign up at twelvedata.com (free Basic plan) → Account → API Keys → copy your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Sign up at newsapi.org (free Developer plan) → copy your key from newsapi.org/account.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Activity7-Finance-Advisor.json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candles1min → Query Parameters → find apikey → replace with your Twelve Data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Repeat for candles15min and candles1hr — all three nodes need the same Twelve Data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the news node → Authentication: Generic Credential Type → Query Auth.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Credential → Create New; set Name = apiKey and Value = your NewsAPI key, then Save.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Re-select your OpenAI and Telegram credentials on the model and Telegram nodes.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9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Review: Telegram Trigger → Extract Ticker → candles (1m/15m/1h) + news → AI Agent → reply.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10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toggle Active; optionally open index.html and paste your Twelve Data key + bot username.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the bot 'Should I buy AAPL?' and confirm it returns a recommendation with reasoning.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 of Day 2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grounded an agent with RAG over your own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exposed an agent to a website via a webhook.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pulled live market + news data through APIs into a Telegram agent.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and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Human-in-the-loop · Pre/Post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Some actions are too sensitive to fully automate — money, hiring, sending on behalf.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human-in-the-loop step pauses the workflow for a person to Approve or Reject.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n8n's Send and Wait for Response captures that decision (email / Telegram).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Model a leave-application approval: a request comes in, a manager is asked to approve, and the flow only continues — recording the leave and confirming — on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→ Manager Approval (Send &amp; Wait) → IF → confirm /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 (sendAndWait), 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a-Human-in-the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812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Approval pauses the flow until a manager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Start with a Form Trigger collecting Employee, Email, Dates, Reason.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Gmail → Send and Wait for Response (Approval) addressed to the manager.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IF node on the approval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Approved: record the leave (Data Table) and email a confirmation.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173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Rejected: email the employee that the request was declined.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174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a leave request, approve it from the manager email, and confirm the employee gets a confirmation.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Pre-guardrail — validate/sanitise the input (block prompt-injection, PII) before the LLM.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Post-guardrail — check the output (no secrets, no disallowed content) before sending.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On a violation, route to a safe fallback or human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176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Wrap an AI agent so unsafe input never reaches the model and unsafe output never reaches the user. Add a pre-check before the agent and a post-check after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Webhook → Pre-check → AI Agent → Post-check → Respond / 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if, agent, respondToWebhook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b-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0560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Pre/post checks gate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Start from the Activity 6 webhook agent (or the Telegram agent).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179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Before the AI Agent, add a Guardrails node that checks the user message for secret keys or blocked keywords.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After the AI Agent, add a second Guardrails check on the reply; adjust the keyword list as you like.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181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If either guardrail fails, the false branch returns a safe canned response.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182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Only send the reply when both guardrails pass.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183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184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Send a normal question (passes through) and a disallowed one — e.g. 'my password is sk-12345678' — and confirm the pre-guardrail blocks it with a safe reply.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185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Design · Build · Present · Assess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187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BRING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In small groups, design and build an end-to-end automation using what you learned.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Include: a trigger, an AI agent with a tool or RAG source, an external API or storage, and a guardrail / human-in-the-loop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worked example — Issue Reporting (form + image → Postgres + gallery) — is provided.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Deliverables: a working workflow, a short demo, and a 3–5 minute presentation.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188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Presentation &amp;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Present the problem, your design, and what you'd improve.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Written Assessment (SAQ) — 1 hour · 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Open book: slides, Learner Guide and approved materials.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189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68880"/>
            <a:ext cx="128016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688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7490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local n8n running and keep building your own agents.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Download all flows: github.com/tertiarycourses/TGS-2023035977-Agentic-AI-Automation-with-n8n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Powered by Tertiary Infotech Academy Pte Ltd  ·  www.tertiarycourses.com.sg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