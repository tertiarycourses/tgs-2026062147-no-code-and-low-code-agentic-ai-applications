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  <p:sldId id="355" r:id="rId106"/>
    <p:sldId id="356" r:id="rId107"/>
    <p:sldId id="357" r:id="rId108"/>
    <p:sldId id="358" r:id="rId109"/>
    <p:sldId id="359" r:id="rId110"/>
    <p:sldId id="360" r:id="rId111"/>
    <p:sldId id="361" r:id="rId112"/>
    <p:sldId id="362" r:id="rId113"/>
    <p:sldId id="363" r:id="rId114"/>
    <p:sldId id="364" r:id="rId115"/>
    <p:sldId id="365" r:id="rId116"/>
    <p:sldId id="366" r:id="rId117"/>
    <p:sldId id="367" r:id="rId118"/>
    <p:sldId id="368" r:id="rId119"/>
    <p:sldId id="369" r:id="rId120"/>
    <p:sldId id="370" r:id="rId121"/>
    <p:sldId id="371" r:id="rId122"/>
    <p:sldId id="372" r:id="rId123"/>
    <p:sldId id="373" r:id="rId124"/>
    <p:sldId id="374" r:id="rId125"/>
    <p:sldId id="375" r:id="rId126"/>
    <p:sldId id="376" r:id="rId127"/>
    <p:sldId id="377" r:id="rId128"/>
    <p:sldId id="378" r:id="rId129"/>
    <p:sldId id="379" r:id="rId130"/>
    <p:sldId id="380" r:id="rId131"/>
    <p:sldId id="381" r:id="rId132"/>
    <p:sldId id="382" r:id="rId133"/>
    <p:sldId id="383" r:id="rId134"/>
    <p:sldId id="384" r:id="rId135"/>
    <p:sldId id="385" r:id="rId136"/>
    <p:sldId id="386" r:id="rId137"/>
    <p:sldId id="387" r:id="rId138"/>
    <p:sldId id="388" r:id="rId139"/>
    <p:sldId id="389" r:id="rId140"/>
    <p:sldId id="390" r:id="rId141"/>
    <p:sldId id="391" r:id="rId142"/>
    <p:sldId id="392" r:id="rId143"/>
    <p:sldId id="393" r:id="rId144"/>
    <p:sldId id="394" r:id="rId145"/>
    <p:sldId id="395" r:id="rId146"/>
    <p:sldId id="396" r:id="rId147"/>
    <p:sldId id="397" r:id="rId148"/>
    <p:sldId id="398" r:id="rId149"/>
    <p:sldId id="399" r:id="rId150"/>
    <p:sldId id="400" r:id="rId151"/>
    <p:sldId id="401" r:id="rId152"/>
    <p:sldId id="402" r:id="rId153"/>
    <p:sldId id="403" r:id="rId154"/>
    <p:sldId id="404" r:id="rId155"/>
    <p:sldId id="405" r:id="rId156"/>
    <p:sldId id="406" r:id="rId157"/>
    <p:sldId id="407" r:id="rId158"/>
    <p:sldId id="408" r:id="rId159"/>
    <p:sldId id="409" r:id="rId160"/>
    <p:sldId id="410" r:id="rId161"/>
    <p:sldId id="411" r:id="rId162"/>
    <p:sldId id="412" r:id="rId163"/>
    <p:sldId id="413" r:id="rId164"/>
    <p:sldId id="414" r:id="rId165"/>
    <p:sldId id="415" r:id="rId166"/>
    <p:sldId id="416" r:id="rId167"/>
    <p:sldId id="417" r:id="rId168"/>
    <p:sldId id="418" r:id="rId169"/>
    <p:sldId id="419" r:id="rId170"/>
    <p:sldId id="420" r:id="rId171"/>
    <p:sldId id="421" r:id="rId172"/>
    <p:sldId id="422" r:id="rId173"/>
    <p:sldId id="423" r:id="rId174"/>
    <p:sldId id="424" r:id="rId175"/>
    <p:sldId id="425" r:id="rId176"/>
    <p:sldId id="426" r:id="rId177"/>
    <p:sldId id="427" r:id="rId178"/>
    <p:sldId id="428" r:id="rId179"/>
    <p:sldId id="429" r:id="rId180"/>
    <p:sldId id="430" r:id="rId181"/>
    <p:sldId id="431" r:id="rId182"/>
    <p:sldId id="432" r:id="rId183"/>
    <p:sldId id="433" r:id="rId184"/>
    <p:sldId id="434" r:id="rId185"/>
    <p:sldId id="435" r:id="rId186"/>
    <p:sldId id="436" r:id="rId187"/>
    <p:sldId id="437" r:id="rId188"/>
    <p:sldId id="438" r:id="rId189"/>
    <p:sldId id="439" r:id="rId190"/>
    <p:sldId id="440" r:id="rId191"/>
    <p:sldId id="441" r:id="rId192"/>
    <p:sldId id="442" r:id="rId193"/>
    <p:sldId id="443" r:id="rId194"/>
    <p:sldId id="444" r:id="rId195"/>
    <p:sldId id="445" r:id="rId196"/>
    <p:sldId id="446" r:id="rId197"/>
    <p:sldId id="447" r:id="rId198"/>
    <p:sldId id="448" r:id="rId199"/>
    <p:sldId id="449" r:id="rId200"/>
    <p:sldId id="450" r:id="rId20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Relationship Id="rId105" Type="http://schemas.openxmlformats.org/officeDocument/2006/relationships/slide" Target="slides/slide99.xml"/><Relationship Id="rId106" Type="http://schemas.openxmlformats.org/officeDocument/2006/relationships/slide" Target="slides/slide100.xml"/><Relationship Id="rId107" Type="http://schemas.openxmlformats.org/officeDocument/2006/relationships/slide" Target="slides/slide101.xml"/><Relationship Id="rId108" Type="http://schemas.openxmlformats.org/officeDocument/2006/relationships/slide" Target="slides/slide102.xml"/><Relationship Id="rId109" Type="http://schemas.openxmlformats.org/officeDocument/2006/relationships/slide" Target="slides/slide103.xml"/><Relationship Id="rId110" Type="http://schemas.openxmlformats.org/officeDocument/2006/relationships/slide" Target="slides/slide104.xml"/><Relationship Id="rId111" Type="http://schemas.openxmlformats.org/officeDocument/2006/relationships/slide" Target="slides/slide105.xml"/><Relationship Id="rId112" Type="http://schemas.openxmlformats.org/officeDocument/2006/relationships/slide" Target="slides/slide106.xml"/><Relationship Id="rId113" Type="http://schemas.openxmlformats.org/officeDocument/2006/relationships/slide" Target="slides/slide107.xml"/><Relationship Id="rId114" Type="http://schemas.openxmlformats.org/officeDocument/2006/relationships/slide" Target="slides/slide108.xml"/><Relationship Id="rId115" Type="http://schemas.openxmlformats.org/officeDocument/2006/relationships/slide" Target="slides/slide109.xml"/><Relationship Id="rId116" Type="http://schemas.openxmlformats.org/officeDocument/2006/relationships/slide" Target="slides/slide110.xml"/><Relationship Id="rId117" Type="http://schemas.openxmlformats.org/officeDocument/2006/relationships/slide" Target="slides/slide111.xml"/><Relationship Id="rId118" Type="http://schemas.openxmlformats.org/officeDocument/2006/relationships/slide" Target="slides/slide112.xml"/><Relationship Id="rId119" Type="http://schemas.openxmlformats.org/officeDocument/2006/relationships/slide" Target="slides/slide113.xml"/><Relationship Id="rId120" Type="http://schemas.openxmlformats.org/officeDocument/2006/relationships/slide" Target="slides/slide114.xml"/><Relationship Id="rId121" Type="http://schemas.openxmlformats.org/officeDocument/2006/relationships/slide" Target="slides/slide115.xml"/><Relationship Id="rId122" Type="http://schemas.openxmlformats.org/officeDocument/2006/relationships/slide" Target="slides/slide116.xml"/><Relationship Id="rId123" Type="http://schemas.openxmlformats.org/officeDocument/2006/relationships/slide" Target="slides/slide117.xml"/><Relationship Id="rId124" Type="http://schemas.openxmlformats.org/officeDocument/2006/relationships/slide" Target="slides/slide118.xml"/><Relationship Id="rId125" Type="http://schemas.openxmlformats.org/officeDocument/2006/relationships/slide" Target="slides/slide119.xml"/><Relationship Id="rId126" Type="http://schemas.openxmlformats.org/officeDocument/2006/relationships/slide" Target="slides/slide120.xml"/><Relationship Id="rId127" Type="http://schemas.openxmlformats.org/officeDocument/2006/relationships/slide" Target="slides/slide121.xml"/><Relationship Id="rId128" Type="http://schemas.openxmlformats.org/officeDocument/2006/relationships/slide" Target="slides/slide122.xml"/><Relationship Id="rId129" Type="http://schemas.openxmlformats.org/officeDocument/2006/relationships/slide" Target="slides/slide123.xml"/><Relationship Id="rId130" Type="http://schemas.openxmlformats.org/officeDocument/2006/relationships/slide" Target="slides/slide124.xml"/><Relationship Id="rId131" Type="http://schemas.openxmlformats.org/officeDocument/2006/relationships/slide" Target="slides/slide125.xml"/><Relationship Id="rId132" Type="http://schemas.openxmlformats.org/officeDocument/2006/relationships/slide" Target="slides/slide126.xml"/><Relationship Id="rId133" Type="http://schemas.openxmlformats.org/officeDocument/2006/relationships/slide" Target="slides/slide127.xml"/><Relationship Id="rId134" Type="http://schemas.openxmlformats.org/officeDocument/2006/relationships/slide" Target="slides/slide128.xml"/><Relationship Id="rId135" Type="http://schemas.openxmlformats.org/officeDocument/2006/relationships/slide" Target="slides/slide129.xml"/><Relationship Id="rId136" Type="http://schemas.openxmlformats.org/officeDocument/2006/relationships/slide" Target="slides/slide130.xml"/><Relationship Id="rId137" Type="http://schemas.openxmlformats.org/officeDocument/2006/relationships/slide" Target="slides/slide131.xml"/><Relationship Id="rId138" Type="http://schemas.openxmlformats.org/officeDocument/2006/relationships/slide" Target="slides/slide132.xml"/><Relationship Id="rId139" Type="http://schemas.openxmlformats.org/officeDocument/2006/relationships/slide" Target="slides/slide133.xml"/><Relationship Id="rId140" Type="http://schemas.openxmlformats.org/officeDocument/2006/relationships/slide" Target="slides/slide134.xml"/><Relationship Id="rId141" Type="http://schemas.openxmlformats.org/officeDocument/2006/relationships/slide" Target="slides/slide135.xml"/><Relationship Id="rId142" Type="http://schemas.openxmlformats.org/officeDocument/2006/relationships/slide" Target="slides/slide136.xml"/><Relationship Id="rId143" Type="http://schemas.openxmlformats.org/officeDocument/2006/relationships/slide" Target="slides/slide137.xml"/><Relationship Id="rId144" Type="http://schemas.openxmlformats.org/officeDocument/2006/relationships/slide" Target="slides/slide138.xml"/><Relationship Id="rId145" Type="http://schemas.openxmlformats.org/officeDocument/2006/relationships/slide" Target="slides/slide139.xml"/><Relationship Id="rId146" Type="http://schemas.openxmlformats.org/officeDocument/2006/relationships/slide" Target="slides/slide140.xml"/><Relationship Id="rId147" Type="http://schemas.openxmlformats.org/officeDocument/2006/relationships/slide" Target="slides/slide141.xml"/><Relationship Id="rId148" Type="http://schemas.openxmlformats.org/officeDocument/2006/relationships/slide" Target="slides/slide142.xml"/><Relationship Id="rId149" Type="http://schemas.openxmlformats.org/officeDocument/2006/relationships/slide" Target="slides/slide143.xml"/><Relationship Id="rId150" Type="http://schemas.openxmlformats.org/officeDocument/2006/relationships/slide" Target="slides/slide144.xml"/><Relationship Id="rId151" Type="http://schemas.openxmlformats.org/officeDocument/2006/relationships/slide" Target="slides/slide145.xml"/><Relationship Id="rId152" Type="http://schemas.openxmlformats.org/officeDocument/2006/relationships/slide" Target="slides/slide146.xml"/><Relationship Id="rId153" Type="http://schemas.openxmlformats.org/officeDocument/2006/relationships/slide" Target="slides/slide147.xml"/><Relationship Id="rId154" Type="http://schemas.openxmlformats.org/officeDocument/2006/relationships/slide" Target="slides/slide148.xml"/><Relationship Id="rId155" Type="http://schemas.openxmlformats.org/officeDocument/2006/relationships/slide" Target="slides/slide149.xml"/><Relationship Id="rId156" Type="http://schemas.openxmlformats.org/officeDocument/2006/relationships/slide" Target="slides/slide150.xml"/><Relationship Id="rId157" Type="http://schemas.openxmlformats.org/officeDocument/2006/relationships/slide" Target="slides/slide151.xml"/><Relationship Id="rId158" Type="http://schemas.openxmlformats.org/officeDocument/2006/relationships/slide" Target="slides/slide152.xml"/><Relationship Id="rId159" Type="http://schemas.openxmlformats.org/officeDocument/2006/relationships/slide" Target="slides/slide153.xml"/><Relationship Id="rId160" Type="http://schemas.openxmlformats.org/officeDocument/2006/relationships/slide" Target="slides/slide154.xml"/><Relationship Id="rId161" Type="http://schemas.openxmlformats.org/officeDocument/2006/relationships/slide" Target="slides/slide155.xml"/><Relationship Id="rId162" Type="http://schemas.openxmlformats.org/officeDocument/2006/relationships/slide" Target="slides/slide156.xml"/><Relationship Id="rId163" Type="http://schemas.openxmlformats.org/officeDocument/2006/relationships/slide" Target="slides/slide157.xml"/><Relationship Id="rId164" Type="http://schemas.openxmlformats.org/officeDocument/2006/relationships/slide" Target="slides/slide158.xml"/><Relationship Id="rId165" Type="http://schemas.openxmlformats.org/officeDocument/2006/relationships/slide" Target="slides/slide159.xml"/><Relationship Id="rId166" Type="http://schemas.openxmlformats.org/officeDocument/2006/relationships/slide" Target="slides/slide160.xml"/><Relationship Id="rId167" Type="http://schemas.openxmlformats.org/officeDocument/2006/relationships/slide" Target="slides/slide161.xml"/><Relationship Id="rId168" Type="http://schemas.openxmlformats.org/officeDocument/2006/relationships/slide" Target="slides/slide162.xml"/><Relationship Id="rId169" Type="http://schemas.openxmlformats.org/officeDocument/2006/relationships/slide" Target="slides/slide163.xml"/><Relationship Id="rId170" Type="http://schemas.openxmlformats.org/officeDocument/2006/relationships/slide" Target="slides/slide164.xml"/><Relationship Id="rId171" Type="http://schemas.openxmlformats.org/officeDocument/2006/relationships/slide" Target="slides/slide165.xml"/><Relationship Id="rId172" Type="http://schemas.openxmlformats.org/officeDocument/2006/relationships/slide" Target="slides/slide166.xml"/><Relationship Id="rId173" Type="http://schemas.openxmlformats.org/officeDocument/2006/relationships/slide" Target="slides/slide167.xml"/><Relationship Id="rId174" Type="http://schemas.openxmlformats.org/officeDocument/2006/relationships/slide" Target="slides/slide168.xml"/><Relationship Id="rId175" Type="http://schemas.openxmlformats.org/officeDocument/2006/relationships/slide" Target="slides/slide169.xml"/><Relationship Id="rId176" Type="http://schemas.openxmlformats.org/officeDocument/2006/relationships/slide" Target="slides/slide170.xml"/><Relationship Id="rId177" Type="http://schemas.openxmlformats.org/officeDocument/2006/relationships/slide" Target="slides/slide171.xml"/><Relationship Id="rId178" Type="http://schemas.openxmlformats.org/officeDocument/2006/relationships/slide" Target="slides/slide172.xml"/><Relationship Id="rId179" Type="http://schemas.openxmlformats.org/officeDocument/2006/relationships/slide" Target="slides/slide173.xml"/><Relationship Id="rId180" Type="http://schemas.openxmlformats.org/officeDocument/2006/relationships/slide" Target="slides/slide174.xml"/><Relationship Id="rId181" Type="http://schemas.openxmlformats.org/officeDocument/2006/relationships/slide" Target="slides/slide175.xml"/><Relationship Id="rId182" Type="http://schemas.openxmlformats.org/officeDocument/2006/relationships/slide" Target="slides/slide176.xml"/><Relationship Id="rId183" Type="http://schemas.openxmlformats.org/officeDocument/2006/relationships/slide" Target="slides/slide177.xml"/><Relationship Id="rId184" Type="http://schemas.openxmlformats.org/officeDocument/2006/relationships/slide" Target="slides/slide178.xml"/><Relationship Id="rId185" Type="http://schemas.openxmlformats.org/officeDocument/2006/relationships/slide" Target="slides/slide179.xml"/><Relationship Id="rId186" Type="http://schemas.openxmlformats.org/officeDocument/2006/relationships/slide" Target="slides/slide180.xml"/><Relationship Id="rId187" Type="http://schemas.openxmlformats.org/officeDocument/2006/relationships/slide" Target="slides/slide181.xml"/><Relationship Id="rId188" Type="http://schemas.openxmlformats.org/officeDocument/2006/relationships/slide" Target="slides/slide182.xml"/><Relationship Id="rId189" Type="http://schemas.openxmlformats.org/officeDocument/2006/relationships/slide" Target="slides/slide183.xml"/><Relationship Id="rId190" Type="http://schemas.openxmlformats.org/officeDocument/2006/relationships/slide" Target="slides/slide184.xml"/><Relationship Id="rId191" Type="http://schemas.openxmlformats.org/officeDocument/2006/relationships/slide" Target="slides/slide185.xml"/><Relationship Id="rId192" Type="http://schemas.openxmlformats.org/officeDocument/2006/relationships/slide" Target="slides/slide186.xml"/><Relationship Id="rId193" Type="http://schemas.openxmlformats.org/officeDocument/2006/relationships/slide" Target="slides/slide187.xml"/><Relationship Id="rId194" Type="http://schemas.openxmlformats.org/officeDocument/2006/relationships/slide" Target="slides/slide188.xml"/><Relationship Id="rId195" Type="http://schemas.openxmlformats.org/officeDocument/2006/relationships/slide" Target="slides/slide189.xml"/><Relationship Id="rId196" Type="http://schemas.openxmlformats.org/officeDocument/2006/relationships/slide" Target="slides/slide190.xml"/><Relationship Id="rId197" Type="http://schemas.openxmlformats.org/officeDocument/2006/relationships/slide" Target="slides/slide191.xml"/><Relationship Id="rId198" Type="http://schemas.openxmlformats.org/officeDocument/2006/relationships/slide" Target="slides/slide192.xml"/><Relationship Id="rId199" Type="http://schemas.openxmlformats.org/officeDocument/2006/relationships/slide" Target="slides/slide193.xml"/><Relationship Id="rId200" Type="http://schemas.openxmlformats.org/officeDocument/2006/relationships/slide" Target="slides/slide194.xml"/><Relationship Id="rId201" Type="http://schemas.openxmlformats.org/officeDocument/2006/relationships/slide" Target="slides/slide19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jp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1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1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1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1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tertiary-infotech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640080"/>
            <a:ext cx="960120" cy="960120"/>
          </a:xfrm>
          <a:prstGeom prst="rect">
            <a:avLst/>
          </a:prstGeom>
        </p:spPr>
      </p:pic>
      <p:pic>
        <p:nvPicPr>
          <p:cNvPr id="6" name="Picture 5" descr="n8n-course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160" y="658368"/>
            <a:ext cx="914400" cy="9144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210312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LEARNER GUIDE  ·  COURSE SLIDES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651760"/>
            <a:ext cx="109728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4600" b="1">
                <a:solidFill>
                  <a:srgbClr val="161B26"/>
                </a:solidFill>
                <a:latin typeface="Arial"/>
              </a:rPr>
              <a:t>Agentic AI Automation with n8n</a:t>
            </a:r>
          </a:p>
        </p:txBody>
      </p:sp>
      <p:sp>
        <p:nvSpPr>
          <p:cNvPr id="9" name="Rectangle 8"/>
          <p:cNvSpPr/>
          <p:nvPr/>
        </p:nvSpPr>
        <p:spPr>
          <a:xfrm>
            <a:off x="841248" y="3931920"/>
            <a:ext cx="2194560" cy="5486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4251960"/>
            <a:ext cx="10972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WSQ Course Code: TGS-2023035977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Conducted by Tertiary Infotech Academy Pte Ltd  ·  UEN 201200696W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5989320"/>
            <a:ext cx="10972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© 2026 Tertiary Infotech Academy Pte Ltd. All rights reserved.  ·  www.tertiarycourses.com.sg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COURSE ADMINISTRATION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Welcome &amp; Housekeeping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18320" y="640080"/>
            <a:ext cx="2286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TRAQOM · SSG DIGITAL ATTENDANCE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Digital Attendance (Mandatory)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It is mandatory to take the AM, PM and Assessment digital attendance for WSQ-funded courses.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The trainer/administrator will display the digital attendance QR code generated from the SSG portal.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Scan the QR code with your mobile phone camera and submit your attendance.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A minimum of 75% attendance is required to be eligible for assessment and funding.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YOUR TRAINER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About the Trainer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Dr. Alfred Ang — Principal Trainer, Tertiary Infotech Academy Pte. Ltd.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PhD; specialises in Artificial Intelligence, automation and software engineering.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Designs and delivers WSQ courses on AI agents, automation (n8n) and app development.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Founder and lead instructor at Tertiary Infotech / Tertiary Courses.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ICE-BREAKER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Let's Know Each Other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Your name and organisation / role.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Your experience with automation or AI tools (if any).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What you want to automate after this course.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Ground Rules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Set your mobile phone to silent mode.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Participate actively — no question is too small.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Mutual respect: agree to disagree.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One conversation at a time.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Be punctual; return from breaks on time.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Step out quietly for calls or toilet breaks.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75% attendance is required.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COURSE PORTAL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LMS / TMS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Access your course materials, attendance and assessment on the LMS/TMS portal.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Portal: https://lms-tms.tertiaryinfotech.com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Download the slides and Learner Guide for reference during the open-book assessment.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SCHEDULE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Lesson Plan — 3 Days, 8 hours/day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Days 1–2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Day 3 &amp; timing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1F6FEB"/>
                </a:solidFill>
                <a:latin typeface="Arial"/>
              </a:rPr>
              <a:t>•  </a:t>
            </a:r>
            <a:r>
              <a:rPr sz="1700">
                <a:solidFill>
                  <a:srgbClr val="161B26"/>
                </a:solidFill>
                <a:latin typeface="Arial"/>
              </a:rPr>
              <a:t>Day 1 — Workflow Automation + AI Agents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5B6372"/>
                </a:solidFill>
                <a:latin typeface="Arial"/>
              </a:rPr>
              <a:t>   –  </a:t>
            </a:r>
            <a:r>
              <a:rPr sz="1600">
                <a:solidFill>
                  <a:srgbClr val="161B26"/>
                </a:solidFill>
                <a:latin typeface="Arial"/>
              </a:rPr>
              <a:t>Topic 1: n8n basics + Activities 1, 2, 3a, 3b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5B6372"/>
                </a:solidFill>
                <a:latin typeface="Arial"/>
              </a:rPr>
              <a:t>   –  </a:t>
            </a:r>
            <a:r>
              <a:rPr sz="1600">
                <a:solidFill>
                  <a:srgbClr val="161B26"/>
                </a:solidFill>
                <a:latin typeface="Arial"/>
              </a:rPr>
              <a:t>Topic 2: AI Agents — Activities 4a, 4b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1F6FEB"/>
                </a:solidFill>
                <a:latin typeface="Arial"/>
              </a:rPr>
              <a:t>•  </a:t>
            </a:r>
            <a:r>
              <a:rPr sz="1700">
                <a:solidFill>
                  <a:srgbClr val="161B26"/>
                </a:solidFill>
                <a:latin typeface="Arial"/>
              </a:rPr>
              <a:t>Day 2 — RAG, Webhooks, APIs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5B6372"/>
                </a:solidFill>
                <a:latin typeface="Arial"/>
              </a:rPr>
              <a:t>   –  </a:t>
            </a:r>
            <a:r>
              <a:rPr sz="1600">
                <a:solidFill>
                  <a:srgbClr val="161B26"/>
                </a:solidFill>
                <a:latin typeface="Arial"/>
              </a:rPr>
              <a:t>RAG (Activity 5)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5B6372"/>
                </a:solidFill>
                <a:latin typeface="Arial"/>
              </a:rPr>
              <a:t>   –  </a:t>
            </a:r>
            <a:r>
              <a:rPr sz="1600">
                <a:solidFill>
                  <a:srgbClr val="161B26"/>
                </a:solidFill>
                <a:latin typeface="Arial"/>
              </a:rPr>
              <a:t>Webhooks (Activity 6) · APIs (Activity 7)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10B981"/>
                </a:solidFill>
                <a:latin typeface="Arial"/>
              </a:rPr>
              <a:t>•  </a:t>
            </a:r>
            <a:r>
              <a:rPr sz="1700">
                <a:solidFill>
                  <a:srgbClr val="161B26"/>
                </a:solidFill>
                <a:latin typeface="Arial"/>
              </a:rPr>
              <a:t>Day 3 — Security &amp; Capstone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5B6372"/>
                </a:solidFill>
                <a:latin typeface="Arial"/>
              </a:rPr>
              <a:t>   –  </a:t>
            </a:r>
            <a:r>
              <a:rPr sz="1600">
                <a:solidFill>
                  <a:srgbClr val="161B26"/>
                </a:solidFill>
                <a:latin typeface="Arial"/>
              </a:rPr>
              <a:t>Human-in-the-loop + Guardrails (Activity 8)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5B6372"/>
                </a:solidFill>
                <a:latin typeface="Arial"/>
              </a:rPr>
              <a:t>   –  </a:t>
            </a:r>
            <a:r>
              <a:rPr sz="1600">
                <a:solidFill>
                  <a:srgbClr val="161B26"/>
                </a:solidFill>
                <a:latin typeface="Arial"/>
              </a:rPr>
              <a:t>Mini Capstone + presentations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10B981"/>
                </a:solidFill>
                <a:latin typeface="Arial"/>
              </a:rPr>
              <a:t>•  </a:t>
            </a:r>
            <a:r>
              <a:rPr sz="1700">
                <a:solidFill>
                  <a:srgbClr val="161B26"/>
                </a:solidFill>
                <a:latin typeface="Arial"/>
              </a:rPr>
              <a:t>Daily timing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5B6372"/>
                </a:solidFill>
                <a:latin typeface="Arial"/>
              </a:rPr>
              <a:t>   –  </a:t>
            </a:r>
            <a:r>
              <a:rPr sz="1600">
                <a:solidFill>
                  <a:srgbClr val="161B26"/>
                </a:solidFill>
                <a:latin typeface="Arial"/>
              </a:rPr>
              <a:t>9:30am–6:30pm · 1-hour lunch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5B6372"/>
                </a:solidFill>
                <a:latin typeface="Arial"/>
              </a:rPr>
              <a:t>   –  </a:t>
            </a:r>
            <a:r>
              <a:rPr sz="1600">
                <a:solidFill>
                  <a:srgbClr val="161B26"/>
                </a:solidFill>
                <a:latin typeface="Arial"/>
              </a:rPr>
              <a:t>Short tea breaks within each day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WHAT YOU'LL ACHIEVE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Learning Outcomes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LO1: Build automated workflows in n8n using triggers, actions, nodes and flows.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LO2: Design AI agents with LLMs, memory and tools, triggered from chat / Telegram.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LO3: Apply Retrieval-Augmented Generation (RAG) to ground agents in your documents.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LO4: Integrate external systems via webhooks, APIs and HTTP requests.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LO5: Apply human-in-the-loop and guardrails to secure agentic automations.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FINAL ASSESSMENT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Assessment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Written Assessment (SAQ) — 1 hour.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Practical Performance (PP) — 1 hour.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Format: Open Book — slides, Learner Guide and approved materials only.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A mini capstone project is presented on Day 3.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An appeal process is available if required.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Briefing for Assessment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Place phones and other materials under the table or on the floor.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No photos or recording of assessment scripts.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No discussion during the assessment.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Use a black/blue pen for hard-copy assessments.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No liquid paper / correction tape.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Scripts are collected when time is up.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TOPIC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Workflow Automation with n8n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411480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Triggers · Actions · Nodes · Flows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8320" y="640080"/>
            <a:ext cx="2286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What is n8n?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A workflow automation platform — connect apps and services with little or no code.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Visual editor: drag nodes onto a canvas and wire them together.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Runs in the cloud (trial) or self-hosted locally with Docker.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400+ integrations, HTTP/code nodes, and AI/LangChain nodes for agents.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FEATURES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Features of n8n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Build visually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97480"/>
            <a:ext cx="2926080" cy="31089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400+ app integrations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Drag-and-drop node canvas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No-code to full-code (JS/Python)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1783080"/>
            <a:ext cx="3337560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10B981"/>
                </a:solidFill>
                <a:latin typeface="Arial"/>
              </a:rPr>
              <a:t>Run anywhere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697480"/>
            <a:ext cx="2926080" cy="31089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Cloud or self-host (Docker)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Webhooks, schedules, queues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Version &amp; export workflows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6676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66760" y="1783080"/>
            <a:ext cx="3337560" cy="109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7C3AED"/>
                </a:solidFill>
                <a:latin typeface="Arial"/>
              </a:rPr>
              <a:t>AI-native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2697480"/>
            <a:ext cx="2926080" cy="31089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AI Agent + LangChain nodes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Memory, tools, RAG, MCP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Use any LLM (OpenAI, Gemini...)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0116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WHY USE n8n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560320"/>
            <a:ext cx="103327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One canvas to connect apps, data and AI.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429768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000" b="0">
                <a:solidFill>
                  <a:srgbClr val="5B6372"/>
                </a:solidFill>
                <a:latin typeface="Arial"/>
              </a:rPr>
              <a:t>n8n lets you automate work and build AI agents without gluing code together by hand.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THE PLATFORM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n8n.io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4937760" cy="42062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n8n is an open, fair-code workflow automation platform.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Free cloud trial at n8n.io, or self-host with Docker.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Same visual editor in both.</a:t>
            </a:r>
          </a:p>
        </p:txBody>
      </p:sp>
      <p:sp>
        <p:nvSpPr>
          <p:cNvPr id="8" name="Rectangle 7"/>
          <p:cNvSpPr/>
          <p:nvPr/>
        </p:nvSpPr>
        <p:spPr>
          <a:xfrm>
            <a:off x="5870448" y="1755648"/>
            <a:ext cx="5650992" cy="358444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ite-n8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828800"/>
            <a:ext cx="5486400" cy="34290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MOTIVATION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Why Automate?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Remove repetitive manual work and human error.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Connect systems that don't normally talk to each other.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React to events in real time (forms, webhooks, schedules).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Add AI to make workflows understand language and make decisions.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GET READY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Setting Up n8n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Option A — Cloud trial: sign up at n8n.io and start in the editor immediately.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Option B — Local Docker Compose (persistent): docker compose up -d → http://localhost:5678.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Trial Data Tables are not permanent — store anything you keep externally (Google Sheets).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See labs/n8n-installation/docker-compose.yml in the course repo.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ACCOUNTS &amp; KEYS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Credential Setup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Add credentials once under Credentials → Add credential.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Gmail / Outlook (OAuth2) for email; OpenAI / Gemini for AI.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Telegram bot token (from @BotFather); Google Sheets (OAuth2).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Imported workflows reference credential names — re-select your own after importing.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UI TOUR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The n8n Editor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Canvas — where you place and connect nodes.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Node panel — search 400+ nodes by name.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Execute Workflow — run and inspect data at each step.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Each node shows input and output data as JSON.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19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THE BUILDING BLOCKS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n8n Nodes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Triggers &amp; Actions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Logic &amp; 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1F6FEB"/>
                </a:solidFill>
                <a:latin typeface="Arial"/>
              </a:rPr>
              <a:t>•  </a:t>
            </a:r>
            <a:r>
              <a:rPr sz="1700">
                <a:solidFill>
                  <a:srgbClr val="161B26"/>
                </a:solidFill>
                <a:latin typeface="Arial"/>
              </a:rPr>
              <a:t>Trigger nodes — start a workflow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5B6372"/>
                </a:solidFill>
                <a:latin typeface="Arial"/>
              </a:rPr>
              <a:t>   –  </a:t>
            </a:r>
            <a:r>
              <a:rPr sz="1600">
                <a:solidFill>
                  <a:srgbClr val="161B26"/>
                </a:solidFill>
                <a:latin typeface="Arial"/>
              </a:rPr>
              <a:t>Form, Webhook, Telegram, Schedule, Manual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1F6FEB"/>
                </a:solidFill>
                <a:latin typeface="Arial"/>
              </a:rPr>
              <a:t>•  </a:t>
            </a:r>
            <a:r>
              <a:rPr sz="1700">
                <a:solidFill>
                  <a:srgbClr val="161B26"/>
                </a:solidFill>
                <a:latin typeface="Arial"/>
              </a:rPr>
              <a:t>Action nodes — do something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5B6372"/>
                </a:solidFill>
                <a:latin typeface="Arial"/>
              </a:rPr>
              <a:t>   –  </a:t>
            </a:r>
            <a:r>
              <a:rPr sz="1600">
                <a:solidFill>
                  <a:srgbClr val="161B26"/>
                </a:solidFill>
                <a:latin typeface="Arial"/>
              </a:rPr>
              <a:t>Gmail, Google Sheets, HTTP Request, Data Table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10B981"/>
                </a:solidFill>
                <a:latin typeface="Arial"/>
              </a:rPr>
              <a:t>•  </a:t>
            </a:r>
            <a:r>
              <a:rPr sz="1700">
                <a:solidFill>
                  <a:srgbClr val="161B26"/>
                </a:solidFill>
                <a:latin typeface="Arial"/>
              </a:rPr>
              <a:t>Logic nodes — control the flow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5B6372"/>
                </a:solidFill>
                <a:latin typeface="Arial"/>
              </a:rPr>
              <a:t>   –  </a:t>
            </a:r>
            <a:r>
              <a:rPr sz="1600">
                <a:solidFill>
                  <a:srgbClr val="161B26"/>
                </a:solidFill>
                <a:latin typeface="Arial"/>
              </a:rPr>
              <a:t>IF, Switch, Merge, Split Out, Code, Edit Fields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10B981"/>
                </a:solidFill>
                <a:latin typeface="Arial"/>
              </a:rPr>
              <a:t>•  </a:t>
            </a:r>
            <a:r>
              <a:rPr sz="1700">
                <a:solidFill>
                  <a:srgbClr val="161B26"/>
                </a:solidFill>
                <a:latin typeface="Arial"/>
              </a:rPr>
              <a:t>AI nodes — reason and act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5B6372"/>
                </a:solidFill>
                <a:latin typeface="Arial"/>
              </a:rPr>
              <a:t>   –  </a:t>
            </a:r>
            <a:r>
              <a:rPr sz="1600">
                <a:solidFill>
                  <a:srgbClr val="161B26"/>
                </a:solidFill>
                <a:latin typeface="Arial"/>
              </a:rPr>
              <a:t>AI Agent, Chat Model, Memory, Vector Store, Tools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20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WHEN A WORKFLOW RUNS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Triggers Available in n8n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Core triggers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Chat &amp; app triggers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1F6FEB"/>
                </a:solidFill>
                <a:latin typeface="Arial"/>
              </a:rPr>
              <a:t>•  </a:t>
            </a:r>
            <a:r>
              <a:rPr sz="1700">
                <a:solidFill>
                  <a:srgbClr val="161B26"/>
                </a:solidFill>
                <a:latin typeface="Arial"/>
              </a:rPr>
              <a:t>Manual Trigger - run on demand (testing)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1F6FEB"/>
                </a:solidFill>
                <a:latin typeface="Arial"/>
              </a:rPr>
              <a:t>•  </a:t>
            </a:r>
            <a:r>
              <a:rPr sz="1700">
                <a:solidFill>
                  <a:srgbClr val="161B26"/>
                </a:solidFill>
                <a:latin typeface="Arial"/>
              </a:rPr>
              <a:t>Schedule Trigger - run on a timer / cron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1F6FEB"/>
                </a:solidFill>
                <a:latin typeface="Arial"/>
              </a:rPr>
              <a:t>•  </a:t>
            </a:r>
            <a:r>
              <a:rPr sz="1700">
                <a:solidFill>
                  <a:srgbClr val="161B26"/>
                </a:solidFill>
                <a:latin typeface="Arial"/>
              </a:rPr>
              <a:t>Form Trigger - a hosted web form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1F6FEB"/>
                </a:solidFill>
                <a:latin typeface="Arial"/>
              </a:rPr>
              <a:t>•  </a:t>
            </a:r>
            <a:r>
              <a:rPr sz="1700">
                <a:solidFill>
                  <a:srgbClr val="161B26"/>
                </a:solidFill>
                <a:latin typeface="Arial"/>
              </a:rPr>
              <a:t>Webhook - external apps call a URL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10B981"/>
                </a:solidFill>
                <a:latin typeface="Arial"/>
              </a:rPr>
              <a:t>•  </a:t>
            </a:r>
            <a:r>
              <a:rPr sz="1700">
                <a:solidFill>
                  <a:srgbClr val="161B26"/>
                </a:solidFill>
                <a:latin typeface="Arial"/>
              </a:rPr>
              <a:t>Chat Trigger - built-in chat UI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10B981"/>
                </a:solidFill>
                <a:latin typeface="Arial"/>
              </a:rPr>
              <a:t>•  </a:t>
            </a:r>
            <a:r>
              <a:rPr sz="1700">
                <a:solidFill>
                  <a:srgbClr val="161B26"/>
                </a:solidFill>
                <a:latin typeface="Arial"/>
              </a:rPr>
              <a:t>Telegram Trigger - messages to your bot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10B981"/>
                </a:solidFill>
                <a:latin typeface="Arial"/>
              </a:rPr>
              <a:t>•  </a:t>
            </a:r>
            <a:r>
              <a:rPr sz="1700">
                <a:solidFill>
                  <a:srgbClr val="161B26"/>
                </a:solidFill>
                <a:latin typeface="Arial"/>
              </a:rPr>
              <a:t>Email (IMAP) - on new email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10B981"/>
                </a:solidFill>
                <a:latin typeface="Arial"/>
              </a:rPr>
              <a:t>•  </a:t>
            </a:r>
            <a:r>
              <a:rPr sz="1700">
                <a:solidFill>
                  <a:srgbClr val="161B26"/>
                </a:solidFill>
                <a:latin typeface="Arial"/>
              </a:rPr>
              <a:t>App triggers - Gmail, Sheets, Notion, ...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21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THE WORKHORSE NODES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Key Nodes in n8n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Actions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Logic &amp; 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1F6FEB"/>
                </a:solidFill>
                <a:latin typeface="Arial"/>
              </a:rPr>
              <a:t>•  </a:t>
            </a:r>
            <a:r>
              <a:rPr sz="1700">
                <a:solidFill>
                  <a:srgbClr val="161B26"/>
                </a:solidFill>
                <a:latin typeface="Arial"/>
              </a:rPr>
              <a:t>HTTP Request - call any API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1F6FEB"/>
                </a:solidFill>
                <a:latin typeface="Arial"/>
              </a:rPr>
              <a:t>•  </a:t>
            </a:r>
            <a:r>
              <a:rPr sz="1700">
                <a:solidFill>
                  <a:srgbClr val="161B26"/>
                </a:solidFill>
                <a:latin typeface="Arial"/>
              </a:rPr>
              <a:t>Gmail / Outlook - send email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1F6FEB"/>
                </a:solidFill>
                <a:latin typeface="Arial"/>
              </a:rPr>
              <a:t>•  </a:t>
            </a:r>
            <a:r>
              <a:rPr sz="1700">
                <a:solidFill>
                  <a:srgbClr val="161B26"/>
                </a:solidFill>
                <a:latin typeface="Arial"/>
              </a:rPr>
              <a:t>Google Sheets / Data Table - store rows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1F6FEB"/>
                </a:solidFill>
                <a:latin typeface="Arial"/>
              </a:rPr>
              <a:t>•  </a:t>
            </a:r>
            <a:r>
              <a:rPr sz="1700">
                <a:solidFill>
                  <a:srgbClr val="161B26"/>
                </a:solidFill>
                <a:latin typeface="Arial"/>
              </a:rPr>
              <a:t>Code - run JavaScript / Python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1F6FEB"/>
                </a:solidFill>
                <a:latin typeface="Arial"/>
              </a:rPr>
              <a:t>•  </a:t>
            </a:r>
            <a:r>
              <a:rPr sz="1700">
                <a:solidFill>
                  <a:srgbClr val="161B26"/>
                </a:solidFill>
                <a:latin typeface="Arial"/>
              </a:rPr>
              <a:t>Edit Fields (Set) - reshape data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10B981"/>
                </a:solidFill>
                <a:latin typeface="Arial"/>
              </a:rPr>
              <a:t>•  </a:t>
            </a:r>
            <a:r>
              <a:rPr sz="1700">
                <a:solidFill>
                  <a:srgbClr val="161B26"/>
                </a:solidFill>
                <a:latin typeface="Arial"/>
              </a:rPr>
              <a:t>IF / Switch - branch on conditions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10B981"/>
                </a:solidFill>
                <a:latin typeface="Arial"/>
              </a:rPr>
              <a:t>•  </a:t>
            </a:r>
            <a:r>
              <a:rPr sz="1700">
                <a:solidFill>
                  <a:srgbClr val="161B26"/>
                </a:solidFill>
                <a:latin typeface="Arial"/>
              </a:rPr>
              <a:t>Merge / Split Out - combine / expand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10B981"/>
                </a:solidFill>
                <a:latin typeface="Arial"/>
              </a:rPr>
              <a:t>•  </a:t>
            </a:r>
            <a:r>
              <a:rPr sz="1700">
                <a:solidFill>
                  <a:srgbClr val="161B26"/>
                </a:solidFill>
                <a:latin typeface="Arial"/>
              </a:rPr>
              <a:t>AI Agent - reason with tools + memory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10B981"/>
                </a:solidFill>
                <a:latin typeface="Arial"/>
              </a:rPr>
              <a:t>•  </a:t>
            </a:r>
            <a:r>
              <a:rPr sz="1700">
                <a:solidFill>
                  <a:srgbClr val="161B26"/>
                </a:solidFill>
                <a:latin typeface="Arial"/>
              </a:rPr>
              <a:t>Vector Store - RAG retrieval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10B981"/>
                </a:solidFill>
                <a:latin typeface="Arial"/>
              </a:rPr>
              <a:t>•  </a:t>
            </a:r>
            <a:r>
              <a:rPr sz="1700">
                <a:solidFill>
                  <a:srgbClr val="161B26"/>
                </a:solidFill>
                <a:latin typeface="Arial"/>
              </a:rPr>
              <a:t>Respond to Webhook - reply to caller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22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CORE CONCEPT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Triggers and Actions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A Trigger is the first node — it decides WHEN a workflow runs.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Manual &amp; Schedule triggers for testing and time-based jobs.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Form, Webhook and Telegram triggers respond to external events.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Actions run after the trigger — send email, store data, call an API.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23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HOW IT RUNS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Execution Modes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Test execution — run manually in the editor to inspect data.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Production execution — runs automatically when Active.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Each run is recorded in the Execution History for debugging.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24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Data Structure &amp; JSON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Data flows between nodes as a list of items, each a JSON object.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Each item has a json field with key/value pairs.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Nodes read the previous node's output and add to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25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THE DATA FORMAT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What is JSON?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JSON (JavaScript Object Notation) is a simple text format for data.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It stores key/value pairs:  { "name": "Alice", "age": 30 }.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Values can be text, numbers, true/false, lists [...] or nested objects {...}.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n8n passes data between nodes as JSON - and most APIs send/receive JSON.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Read a value with an expression, e.g.  {{ $json.name }}.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26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DATA MAPPING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Expressions &amp; Data Mapping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Expressions pull data from earlier nodes: {{ $json.Name }}.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Drag fields from the input panel to map them automatically.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Use expressions in any field — subject lines, URLs, conditions.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27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DEBUGGING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Pin Data &amp; Execution History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Pin data to freeze a node's output while you build downstream nodes.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Edit output to test different scenarios without re-running triggers.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Execution History shows every run, its data, and any errors.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28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SHAPING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Transforming Data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Edit Fields (Set) — add, rename or reshape fields.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Code node — run JavaScript/Python for custom logic.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Split Out — turn one item with a list into many items.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Merge — combine data from two branches (append, combine, choose).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29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DECISIONS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Conditional Logic — IF &amp; Switch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IF node — two outputs: true and false, based on a condition.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Switch node — many outputs for multiple cases.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Use them to route submissions, approvals, or message types.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30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STRUCTURE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Sub-Workflows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Break big automations into reusable smaller workflows.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Call a sub-workflow with the Execute Workflow node.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Keeps workflows readable and lets you reuse common logic.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31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1 · WORKFLOW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1 — Flyer with QR Code (Form → Email)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64208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09928"/>
            <a:ext cx="1554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ACT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1069848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Collect a visitor's details with an n8n Form and email them to an admin, then turn the form URL into a QR code on an event flyer (group activity).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Form Trigger  →  Gmail (Send)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1206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Key nodes:  </a:t>
            </a:r>
            <a:r>
              <a:rPr sz="1300" b="0">
                <a:solidFill>
                  <a:srgbClr val="5B6372"/>
                </a:solidFill>
                <a:latin typeface="Arial"/>
              </a:rPr>
              <a:t>formTrigger, gmail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32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1 · WORKFLOW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1 — Flyer with QR Code (Form → Email) — Workflow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Activity1-Flyer-For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2847" y="1691640"/>
            <a:ext cx="9906000" cy="41605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5989320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Form Trigger → Gmail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33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1 · WORKFLOW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1 — Flyer with QR Code (Form → Email)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1 OF 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377440"/>
            <a:ext cx="914400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61B26"/>
                </a:solidFill>
                <a:latin typeface="Arial"/>
              </a:rPr>
              <a:t>Create a new workflow and add an n8n Form Trigger; set a Form Title.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34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1 · WORKFLOW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1 — Flyer with QR Code (Form → Email)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2 OF 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377440"/>
            <a:ext cx="914400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61B26"/>
                </a:solidFill>
                <a:latin typeface="Arial"/>
              </a:rPr>
              <a:t>Add four fields: Name, Email, Phone, Message (mark Name &amp; Email required).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35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1 · WORKFLOW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1 — Flyer with QR Code (Form → Email)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3 OF 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377440"/>
            <a:ext cx="914400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61B26"/>
                </a:solidFill>
                <a:latin typeface="Arial"/>
              </a:rPr>
              <a:t>Add a Gmail node (Send a Message) after the Form Trigger.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36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1 · WORKFLOW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1 — Flyer with QR Code (Form → Email)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4 OF 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377440"/>
            <a:ext cx="914400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61B26"/>
                </a:solidFill>
                <a:latin typeface="Arial"/>
              </a:rPr>
              <a:t>Set To = admin address, Subject = New RSVP from {{ $json.Name }}, and a body using the fields.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37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1 · WORKFLOW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1 — Flyer with QR Code (Form → Email)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5 OF 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377440"/>
            <a:ext cx="914400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61B26"/>
                </a:solidFill>
                <a:latin typeface="Arial"/>
              </a:rPr>
              <a:t>Select your Gmail credential, Save, and toggle the workflow Active.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38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1 · WORKFLOW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1 — Flyer with QR Code (Form → Email)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6 OF 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377440"/>
            <a:ext cx="914400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61B26"/>
                </a:solidFill>
                <a:latin typeface="Arial"/>
              </a:rPr>
              <a:t>Copy the Form's Production URL; paste it into the QR generator (alfredang.github.io/qrcodegenerator) and put the QR on a flyer.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39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1 · WORKFLOW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1 — Flyer with QR Code (Form → Email)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7 OF 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377440"/>
            <a:ext cx="914400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61B26"/>
                </a:solidFill>
                <a:latin typeface="Arial"/>
              </a:rPr>
              <a:t>Group activity: design an event flyer (e.g. bowling night) with the QR code, then present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40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1 · WORKFLOW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1 — Flyer with QR Code (Form → Email)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Scan the QR code, submit the form, and confirm the admin inbox receives the email.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41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GROUP ACTIVITY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Sample Flyers from Past Students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lyer-sample1-pre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828800"/>
            <a:ext cx="3261360" cy="183451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77240" y="5440680"/>
            <a:ext cx="353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Network event</a:t>
            </a:r>
          </a:p>
        </p:txBody>
      </p:sp>
      <p:pic>
        <p:nvPicPr>
          <p:cNvPr id="9" name="Picture 8" descr="flyer-sample2-previe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50080" y="1828800"/>
            <a:ext cx="3261360" cy="183723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312920" y="5440680"/>
            <a:ext cx="353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Event poster</a:t>
            </a:r>
          </a:p>
        </p:txBody>
      </p:sp>
      <p:pic>
        <p:nvPicPr>
          <p:cNvPr id="11" name="Picture 10" descr="flyer-sample3.jpe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43099" y="1828800"/>
            <a:ext cx="2146681" cy="33832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848600" y="5440680"/>
            <a:ext cx="353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Bowling party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42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1 · WORKFLOW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2 — Capture Submissions in a Data Table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64208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09928"/>
            <a:ext cx="1554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ACT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1069848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Extend Activity 1 so every submission is also saved into an n8n Data Table — your first taste of storing data, not just forwarding it.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Form Trigger  →  Gmail  +  Data Table (Insert row)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1206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Key nodes:  </a:t>
            </a:r>
            <a:r>
              <a:rPr sz="1300" b="0">
                <a:solidFill>
                  <a:srgbClr val="5B6372"/>
                </a:solidFill>
                <a:latin typeface="Arial"/>
              </a:rPr>
              <a:t>formTrigger, gmail, dataTable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43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1 · WORKFLOW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2 — Capture Submissions in a Data Table — Workflow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Activity2-Data-Ta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9487" y="1691640"/>
            <a:ext cx="10332720" cy="369681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5989320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Form → Gmail + Data Table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44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1 · WORKFLOW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2 — Capture Submissions in a Data Table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1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377440"/>
            <a:ext cx="914400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61B26"/>
                </a:solidFill>
                <a:latin typeface="Arial"/>
              </a:rPr>
              <a:t>In n8n open Data Tables and create a table 'RSVPs' with columns Name, Email, Phone, Message.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45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1 · WORKFLOW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2 — Capture Submissions in a Data Table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2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377440"/>
            <a:ext cx="914400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61B26"/>
                </a:solidFill>
                <a:latin typeface="Arial"/>
              </a:rPr>
              <a:t>Continue from your Activity 1 workflow.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46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1 · WORKFLOW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2 — Capture Submissions in a Data Table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3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377440"/>
            <a:ext cx="914400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61B26"/>
                </a:solidFill>
                <a:latin typeface="Arial"/>
              </a:rPr>
              <a:t>Add a Data Table node (Insert Row) connected after the Form Trigger, alongside Gmail.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47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1 · WORKFLOW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2 — Capture Submissions in a Data Table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4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377440"/>
            <a:ext cx="914400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61B26"/>
                </a:solidFill>
                <a:latin typeface="Arial"/>
              </a:rPr>
              <a:t>Map each form field to its column with expressions, e.g. Name → {{ $json.Name }}.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48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1 · WORKFLOW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2 — Capture Submissions in a Data Table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5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377440"/>
            <a:ext cx="914400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61B26"/>
                </a:solidFill>
                <a:latin typeface="Arial"/>
              </a:rPr>
              <a:t>Save and keep the workflow Active.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49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1 · WORKFLOW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2 — Capture Submissions in a Data Table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Submit the form and confirm a new row appears in the RSVPs Data Table and the email still sends.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50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1 · WORKFLOW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3a — Conditional Response (Data Table)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64208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09928"/>
            <a:ext cx="1554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ACT 3a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1069848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Add decision-making with an IF node. If the visitor is attending, save the date to the Data Table; if not, send a polite thank-you email.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Form Trigger  →  IF  →  Data Table / Gmail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1206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Key nodes:  </a:t>
            </a:r>
            <a:r>
              <a:rPr sz="1300" b="0">
                <a:solidFill>
                  <a:srgbClr val="5B6372"/>
                </a:solidFill>
                <a:latin typeface="Arial"/>
              </a:rPr>
              <a:t>formTrigger, if, dataTable, gmail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51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1 · WORKFLOW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3a — Conditional Response (Data Table) — Workflow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Activity3a-Conditional-Data-Ta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95780" y="1691640"/>
            <a:ext cx="7400134" cy="41605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5989320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IF routes to Data Table or a thank-you email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52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1 · WORKFLOW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3a — Conditional Response (Data Table)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1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377440"/>
            <a:ext cx="914400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61B26"/>
                </a:solidFill>
                <a:latin typeface="Arial"/>
              </a:rPr>
              <a:t>Add an Attending? field (Yes/No dropdown) to the form.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53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1 · WORKFLOW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3a — Conditional Response (Data Table)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2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377440"/>
            <a:ext cx="914400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61B26"/>
                </a:solidFill>
                <a:latin typeface="Arial"/>
              </a:rPr>
              <a:t>Add an IF node after the Form Trigger: condition {{ $json.Attending }} equals Yes.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54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1 · WORKFLOW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3a — Conditional Response (Data Table)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3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377440"/>
            <a:ext cx="914400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61B26"/>
                </a:solidFill>
                <a:latin typeface="Arial"/>
              </a:rPr>
              <a:t>On the true output, add a Data Table → Insert Row to save the RSVP.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55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1 · WORKFLOW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3a — Conditional Response (Data Table)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4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377440"/>
            <a:ext cx="914400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61B26"/>
                </a:solidFill>
                <a:latin typeface="Arial"/>
              </a:rPr>
              <a:t>On the false output, add a Gmail node sending a friendly thank-you.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56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1 · WORKFLOW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3a — Conditional Response (Data Table)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5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377440"/>
            <a:ext cx="914400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61B26"/>
                </a:solidFill>
                <a:latin typeface="Arial"/>
              </a:rPr>
              <a:t>Save and keep the workflow Active.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57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1 · WORKFLOW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3a — Conditional Response (Data Table)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Submit once with Attending = Yes (new Data Table row) and once with No (thank-you email).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58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1 · WORKFLOW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3b — Conditional Response (Google Sheets / Excel)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64208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09928"/>
            <a:ext cx="1554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ACT 3b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1069848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Make data persistent by replacing the Data Table with Google Sheets (or Excel). Same logic — the Yes branch appends a row to a real spreadsheet you keep.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Form Trigger  →  IF  →  Google Sheets / Gmail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1206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Key nodes:  </a:t>
            </a:r>
            <a:r>
              <a:rPr sz="1300" b="0">
                <a:solidFill>
                  <a:srgbClr val="5B6372"/>
                </a:solidFill>
                <a:latin typeface="Arial"/>
              </a:rPr>
              <a:t>formTrigger, if, googleSheets, gmail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59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1 · WORKFLOW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3b — Conditional Response (Google Sheets / Excel) — Workflow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Activity3b-Conditional-Google-Shee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3569" y="1691640"/>
            <a:ext cx="9444556" cy="41605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5989320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IF routes to Google Sheets or a thank-you email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60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1 · WORKFLOW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3b — Conditional Response (Google Sheets / Excel)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1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377440"/>
            <a:ext cx="914400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61B26"/>
                </a:solidFill>
                <a:latin typeface="Arial"/>
              </a:rPr>
              <a:t>Create a Google Sheet 'Event RSVPs' with a header row: Name, Email, Phone, Date.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61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1 · WORKFLOW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3b — Conditional Response (Google Sheets / Excel)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2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377440"/>
            <a:ext cx="914400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61B26"/>
                </a:solidFill>
                <a:latin typeface="Arial"/>
              </a:rPr>
              <a:t>Add a Google Sheets credential (OAuth2) in n8n and authorise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62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1 · WORKFLOW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3b — Conditional Response (Google Sheets / Excel)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3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377440"/>
            <a:ext cx="914400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61B26"/>
                </a:solidFill>
                <a:latin typeface="Arial"/>
              </a:rPr>
              <a:t>Take Activity 3a; on the true branch replace the Data Table with a Google Sheets → Append Row node.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63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1 · WORKFLOW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3b — Conditional Response (Google Sheets / Excel)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4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377440"/>
            <a:ext cx="914400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61B26"/>
                </a:solidFill>
                <a:latin typeface="Arial"/>
              </a:rPr>
              <a:t>Select your spreadsheet and sheet, then map each column to the form fields.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64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1 · WORKFLOW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3b — Conditional Response (Google Sheets / Excel)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5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377440"/>
            <a:ext cx="914400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61B26"/>
                </a:solidFill>
                <a:latin typeface="Arial"/>
              </a:rPr>
              <a:t>Leave the false branch (thank-you email) unchanged; Save and keep Active.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65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1 · WORKFLOW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3b — Conditional Response (Google Sheets / Excel)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Submit with Attending = Yes and confirm a new row is appended to your Google Sheet.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66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937760" y="2148840"/>
            <a:ext cx="2313432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2514600"/>
            <a:ext cx="1219169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800" b="1">
                <a:solidFill>
                  <a:srgbClr val="161B26"/>
                </a:solidFill>
                <a:latin typeface="Arial"/>
              </a:rPr>
              <a:t>Lunch Break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3703320"/>
            <a:ext cx="1219169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F59E0B"/>
                </a:solidFill>
                <a:latin typeface="Arial"/>
              </a:rPr>
              <a:t>1 hour  ·  see you at 2:00 pm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TOPIC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AI Agents and RAG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411480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LLM · Memory · Tools · System Instruction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8320" y="640080"/>
            <a:ext cx="2286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68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CONCEPT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What is Agentic AI?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Traditional automation follows fixed rules you wire by hand.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An AI agent uses an LLM to understand language and decide what to do.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It can call tools, remember context, and handle open-ended requests.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Agentic = the AI takes actions toward a goal, not just answers once.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69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WHY AGENTS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Why Use an AI Agent?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Understands language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97480"/>
            <a:ext cx="2926080" cy="31089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Handles free-text requests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No rigid forms or keywords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Summarises &amp; reasons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1783080"/>
            <a:ext cx="3337560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10B981"/>
                </a:solidFill>
                <a:latin typeface="Arial"/>
              </a:rPr>
              <a:t>Takes action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697480"/>
            <a:ext cx="2926080" cy="31089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Calls tools &amp; APIs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Looks up your data (RAG)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Chains multiple steps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6676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66760" y="1783080"/>
            <a:ext cx="3337560" cy="109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7C3AED"/>
                </a:solidFill>
                <a:latin typeface="Arial"/>
              </a:rPr>
              <a:t>Flexible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2697480"/>
            <a:ext cx="2926080" cy="31089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One agent, many questions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Adapts to new cases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Easy to extend with tools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70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THE BRAINS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Popular LLM Models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Hosted models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Open &amp; course default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1F6FEB"/>
                </a:solidFill>
                <a:latin typeface="Arial"/>
              </a:rPr>
              <a:t>•  </a:t>
            </a:r>
            <a:r>
              <a:rPr sz="1700">
                <a:solidFill>
                  <a:srgbClr val="161B26"/>
                </a:solidFill>
                <a:latin typeface="Arial"/>
              </a:rPr>
              <a:t>OpenAI - gpt-4.1, gpt-4.1-mini, gpt-4o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1F6FEB"/>
                </a:solidFill>
                <a:latin typeface="Arial"/>
              </a:rPr>
              <a:t>•  </a:t>
            </a:r>
            <a:r>
              <a:rPr sz="1700">
                <a:solidFill>
                  <a:srgbClr val="161B26"/>
                </a:solidFill>
                <a:latin typeface="Arial"/>
              </a:rPr>
              <a:t>Google - Gemini 2.x Flash / Pro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1F6FEB"/>
                </a:solidFill>
                <a:latin typeface="Arial"/>
              </a:rPr>
              <a:t>•  </a:t>
            </a:r>
            <a:r>
              <a:rPr sz="1700">
                <a:solidFill>
                  <a:srgbClr val="161B26"/>
                </a:solidFill>
                <a:latin typeface="Arial"/>
              </a:rPr>
              <a:t>Anthropic - Claude (Sonnet, Opus, Haiku)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10B981"/>
                </a:solidFill>
                <a:latin typeface="Arial"/>
              </a:rPr>
              <a:t>•  </a:t>
            </a:r>
            <a:r>
              <a:rPr sz="1700">
                <a:solidFill>
                  <a:srgbClr val="161B26"/>
                </a:solidFill>
                <a:latin typeface="Arial"/>
              </a:rPr>
              <a:t>Meta - Llama 3.x (open weights)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10B981"/>
                </a:solidFill>
                <a:latin typeface="Arial"/>
              </a:rPr>
              <a:t>•  </a:t>
            </a:r>
            <a:r>
              <a:rPr sz="1700">
                <a:solidFill>
                  <a:srgbClr val="161B26"/>
                </a:solidFill>
                <a:latin typeface="Arial"/>
              </a:rPr>
              <a:t>Mistral - Mistral / Mixtral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10B981"/>
                </a:solidFill>
                <a:latin typeface="Arial"/>
              </a:rPr>
              <a:t>•  </a:t>
            </a:r>
            <a:r>
              <a:rPr sz="1700">
                <a:solidFill>
                  <a:srgbClr val="161B26"/>
                </a:solidFill>
                <a:latin typeface="Arial"/>
              </a:rPr>
              <a:t>This course uses OpenAI gpt-4.1-mini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71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HOW IT WORKS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AI Agent Using an LLM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The LLM is the 'brain' that interprets the user and plans a response.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Tools give the agent abilities (look up data, search, call an API).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Memory lets it hold a conversation across messages.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A system instruction sets its role, tone and rules.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72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THE PIECES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AI Agent Concepts in n8n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Model &amp; Memory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Tools &amp; Instruction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1F6FEB"/>
                </a:solidFill>
                <a:latin typeface="Arial"/>
              </a:rPr>
              <a:t>•  </a:t>
            </a:r>
            <a:r>
              <a:rPr sz="1700">
                <a:solidFill>
                  <a:srgbClr val="161B26"/>
                </a:solidFill>
                <a:latin typeface="Arial"/>
              </a:rPr>
              <a:t>LLM — generates the replies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5B6372"/>
                </a:solidFill>
                <a:latin typeface="Arial"/>
              </a:rPr>
              <a:t>   –  </a:t>
            </a:r>
            <a:r>
              <a:rPr sz="1600">
                <a:solidFill>
                  <a:srgbClr val="161B26"/>
                </a:solidFill>
                <a:latin typeface="Arial"/>
              </a:rPr>
              <a:t>OpenAI gpt-4.1-mini or Google Gemini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1F6FEB"/>
                </a:solidFill>
                <a:latin typeface="Arial"/>
              </a:rPr>
              <a:t>•  </a:t>
            </a:r>
            <a:r>
              <a:rPr sz="1700">
                <a:solidFill>
                  <a:srgbClr val="161B26"/>
                </a:solidFill>
                <a:latin typeface="Arial"/>
              </a:rPr>
              <a:t>Memory — recalls the conversation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5B6372"/>
                </a:solidFill>
                <a:latin typeface="Arial"/>
              </a:rPr>
              <a:t>   –  </a:t>
            </a:r>
            <a:r>
              <a:rPr sz="1600">
                <a:solidFill>
                  <a:srgbClr val="161B26"/>
                </a:solidFill>
                <a:latin typeface="Arial"/>
              </a:rPr>
              <a:t>Simple / window buffer memory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10B981"/>
                </a:solidFill>
                <a:latin typeface="Arial"/>
              </a:rPr>
              <a:t>•  </a:t>
            </a:r>
            <a:r>
              <a:rPr sz="1700">
                <a:solidFill>
                  <a:srgbClr val="161B26"/>
                </a:solidFill>
                <a:latin typeface="Arial"/>
              </a:rPr>
              <a:t>Tools — actions the agent can call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5B6372"/>
                </a:solidFill>
                <a:latin typeface="Arial"/>
              </a:rPr>
              <a:t>   –  </a:t>
            </a:r>
            <a:r>
              <a:rPr sz="1600">
                <a:solidFill>
                  <a:srgbClr val="161B26"/>
                </a:solidFill>
                <a:latin typeface="Arial"/>
              </a:rPr>
              <a:t>Data Table, Vector Store, HTTP, sub-workflow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10B981"/>
                </a:solidFill>
                <a:latin typeface="Arial"/>
              </a:rPr>
              <a:t>•  </a:t>
            </a:r>
            <a:r>
              <a:rPr sz="1700">
                <a:solidFill>
                  <a:srgbClr val="161B26"/>
                </a:solidFill>
                <a:latin typeface="Arial"/>
              </a:rPr>
              <a:t>System Instruction — role &amp; rules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5B6372"/>
                </a:solidFill>
                <a:latin typeface="Arial"/>
              </a:rPr>
              <a:t>   –  </a:t>
            </a:r>
            <a:r>
              <a:rPr sz="1600">
                <a:solidFill>
                  <a:srgbClr val="161B26"/>
                </a:solidFill>
                <a:latin typeface="Arial"/>
              </a:rPr>
              <a:t>Persona, scope, and do/don't guidance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73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INSTRUCTION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Creating System Prompts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State the agent's role: 'You are an HR admin assistant.'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Give scope and limits: what it should and shouldn't answer.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Tell it which tool to use for which kind of question.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Keep it concise, specific and testable.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74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BEST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Agent Instruction Best Practices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Be explicit about routing between multiple tools/sources.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Ask for a clear format when you need structured output.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Tell it to say 'I don't know' rather than invent answers.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Iterate: test with real questions and refine the prompt.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75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EXTENDING THE AGENT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Memory &amp; Tools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Add memory so follow-up questions keep context.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Attach tools to the agent's Tool input; describe each tool clearly.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The agent decides when to call a tool based on your description.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All agents in this course use OpenAI gpt-4.1-mini.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76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2 · AI AGENTS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4a — Telegram-Triggered AI Agent (Customer Service)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64208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09928"/>
            <a:ext cx="1554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ACT 4a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1069848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Build your first AI agent: a customer-service chatbot you talk to from Telegram, using an LLM, memory and a system instruction.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Telegram Trigger  →  AI Agent (+ model + memory)  →  Telegram reply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1206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Key nodes:  </a:t>
            </a:r>
            <a:r>
              <a:rPr sz="1300" b="0">
                <a:solidFill>
                  <a:srgbClr val="5B6372"/>
                </a:solidFill>
                <a:latin typeface="Arial"/>
              </a:rPr>
              <a:t>telegramTrigger, agent, lmChatOpenAi, memory, telegram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77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2 · AI AGENTS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4a — Telegram-Triggered AI Agent (Customer Service) — Workflow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Activity4a-Telegram-Ag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0449" y="1691640"/>
            <a:ext cx="10150797" cy="41605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5989320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Telegram-triggered AI agent with model + memory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78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2 · AI AGENTS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4a — Telegram-Triggered AI Agent (Customer Service)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1 OF 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377440"/>
            <a:ext cx="914400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61B26"/>
                </a:solidFill>
                <a:latin typeface="Arial"/>
              </a:rPr>
              <a:t>In Telegram, open @BotFather → /newbot, then copy the bot token.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79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2 · AI AGENTS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4a — Telegram-Triggered AI Agent (Customer Service)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2 OF 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377440"/>
            <a:ext cx="914400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61B26"/>
                </a:solidFill>
                <a:latin typeface="Arial"/>
              </a:rPr>
              <a:t>Add a Telegram credential in n8n and paste the token.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80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2 · AI AGENTS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4a — Telegram-Triggered AI Agent (Customer Service)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3 OF 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377440"/>
            <a:ext cx="914400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61B26"/>
                </a:solidFill>
                <a:latin typeface="Arial"/>
              </a:rPr>
              <a:t>Add a Telegram Trigger node (fires on each message).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81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2 · AI AGENTS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4a — Telegram-Triggered AI Agent (Customer Service)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4 OF 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377440"/>
            <a:ext cx="914400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61B26"/>
                </a:solidFill>
                <a:latin typeface="Arial"/>
              </a:rPr>
              <a:t>Add an AI Agent node after the trigger.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82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2 · AI AGENTS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4a — Telegram-Triggered AI Agent (Customer Service)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5 OF 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377440"/>
            <a:ext cx="914400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61B26"/>
                </a:solidFill>
                <a:latin typeface="Arial"/>
              </a:rPr>
              <a:t>Attach an OpenAI Chat Model (gpt-4.1-mini) and a Simple Memory node.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83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2 · AI AGENTS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4a — Telegram-Triggered AI Agent (Customer Service)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6 OF 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377440"/>
            <a:ext cx="914400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61B26"/>
                </a:solidFill>
                <a:latin typeface="Arial"/>
              </a:rPr>
              <a:t>Write the system instruction (friendly customer-service assistant).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84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2 · AI AGENTS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4a — Telegram-Triggered AI Agent (Customer Service)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7 OF 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377440"/>
            <a:ext cx="914400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61B26"/>
                </a:solidFill>
                <a:latin typeface="Arial"/>
              </a:rPr>
              <a:t>Add a Telegram → Send Message: Chat ID = {{ $json.message.chat.id }}, Text = the agent output. Save &amp; Activate.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85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2 · AI AGENTS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4a — Telegram-Triggered AI Agent (Customer Service)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Message your bot in Telegram and confirm it replies.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86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2 · AI AGENTS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4b — Telegram Agent + Data Table Tool (HR Admin)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64208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09928"/>
            <a:ext cx="1554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ACT 4b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1069848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Give the agent a tool: an employee Data Table it can query. The same bot now answers HR-admin questions from real data.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Telegram  →  AI Agent  +  Data Table Tool  →  reply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1206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Key nodes:  </a:t>
            </a:r>
            <a:r>
              <a:rPr sz="1300" b="0">
                <a:solidFill>
                  <a:srgbClr val="5B6372"/>
                </a:solidFill>
                <a:latin typeface="Arial"/>
              </a:rPr>
              <a:t>agent, dataTableTool, telegram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87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2 · AI AGENTS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4b — Telegram Agent + Data Table Tool (HR Admin) — Workflow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Activity4b-Telegram-Data-Ta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4485" y="1691640"/>
            <a:ext cx="9742725" cy="41605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5989320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Agent with a Data Table tool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88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2 · AI AGENTS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4b — Telegram Agent + Data Table Tool (HR Admin)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1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377440"/>
            <a:ext cx="914400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61B26"/>
                </a:solidFill>
                <a:latin typeface="Arial"/>
              </a:rPr>
              <a:t>Create a Data Table 'Employees' and upload the provided employees.csv (100 records).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89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2 · AI AGENTS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4b — Telegram Agent + Data Table Tool (HR Admin)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2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377440"/>
            <a:ext cx="914400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61B26"/>
                </a:solidFill>
                <a:latin typeface="Arial"/>
              </a:rPr>
              <a:t>Open your Activity 4a workflow.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90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2 · AI AGENTS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4b — Telegram Agent + Data Table Tool (HR Admin)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3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377440"/>
            <a:ext cx="914400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61B26"/>
                </a:solidFill>
                <a:latin typeface="Arial"/>
              </a:rPr>
              <a:t>Add a Data Table Tool and attach it to the AI Agent's Tool input.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91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2 · AI AGENTS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4b — Telegram Agent + Data Table Tool (HR Admin)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4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377440"/>
            <a:ext cx="914400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61B26"/>
                </a:solidFill>
                <a:latin typeface="Arial"/>
              </a:rPr>
              <a:t>Point the tool at the Employees table and describe it (look up staff by name/department).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92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2 · AI AGENTS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4b — Telegram Agent + Data Table Tool (HR Admin)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5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377440"/>
            <a:ext cx="914400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61B26"/>
                </a:solidFill>
                <a:latin typeface="Arial"/>
              </a:rPr>
              <a:t>Update the system instruction to use the Employees tool for staff questions. Save &amp; Activate.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93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2 · AI AGENTS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4b — Telegram Agent + Data Table Tool (HR Admin)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Ask 'Which department is &lt;a name from the CSV&gt; in?' and confirm it answers from the table.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94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WRAP-UP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End of Day 1 — Recap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You built form automations, conditional logic and data storage.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You created a Telegram AI agent with memory and a Data Table tool.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Tomorrow: RAG, Webhooks and external APIs.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95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TOPIC 2 (cont.)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Retrieval-Augmented Generation (RAG)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411480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Tokenization · Embeddings · Vector Stores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8320" y="640080"/>
            <a:ext cx="2286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96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CONCEPT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What is RAG?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RAG lets an agent answer from YOUR documents, not just its training data.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Documents are split, embedded and stored; relevant chunks are retrieved per question.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Reduces hallucination and keeps answers grounded and current.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97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EMBEDDINGS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Text Embedding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Tokenization splits text into tokens the model can process.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An embedding turns a chunk of text into a vector (list of numbers).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Similar meanings produce vectors that are close together.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98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VECTOR STORE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Vector Database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Vectors are stored in a vector store (in-memory, Pinecone, etc.).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At query time, the question is embedded and the closest chunks are retrieved.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Those chunks are given to the LLM as context to answer.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99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2 · RAG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How RAG Works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rag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64386" y="1691640"/>
            <a:ext cx="8262923" cy="41605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5989320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User → Prompt → Data Retrieval (search/retrieve over your data sources) → Generator → Response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100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2 · RAG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5 — Add RAG to the Telegram Agent (Two Knowledge Sources)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64208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09928"/>
            <a:ext cx="1554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ACT 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1069848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Upgrade the agent to answer from documents (policies/FAQs) AND the Data Table. It must route to the right source for each question — two knowledge sources, one agent.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Telegram  →  AI Agent  +  Vector Store (RAG) + Data Table  →  reply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1206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Key nodes:  </a:t>
            </a:r>
            <a:r>
              <a:rPr sz="1300" b="0">
                <a:solidFill>
                  <a:srgbClr val="5B6372"/>
                </a:solidFill>
                <a:latin typeface="Arial"/>
              </a:rPr>
              <a:t>agent, vectorStoreInMemory, embeddingsOpenAi, dataTableTool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101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2 · RAG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5 — Add RAG to the Telegram Agent (Two Knowledge Sources) — Workflow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Activity5-RAG-Tele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2140" y="1691640"/>
            <a:ext cx="7067415" cy="41605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5989320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Agent routes between a RAG vector store and a Data Table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102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2 · RAG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5 — Add RAG to the Telegram Agent (Two Knowledge Sources)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1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377440"/>
            <a:ext cx="914400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61B26"/>
                </a:solidFill>
                <a:latin typeface="Arial"/>
              </a:rPr>
              <a:t>Prepare documents: use MyCompany-HR-SOP.docx / IT-Support-FAQ.docx, or generate FAQs with Claude Code.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103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2 · RAG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5 — Add RAG to the Telegram Agent (Two Knowledge Sources)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2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377440"/>
            <a:ext cx="914400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61B26"/>
                </a:solidFill>
                <a:latin typeface="Arial"/>
              </a:rPr>
              <a:t>Build the ingestion path: upload → Embeddings (OpenAI) → Vector Store (Insert) with a Default Data Loader.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104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2 · RAG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5 — Add RAG to the Telegram Agent (Two Knowledge Sources)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3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377440"/>
            <a:ext cx="914400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61B26"/>
                </a:solidFill>
                <a:latin typeface="Arial"/>
              </a:rPr>
              <a:t>In your Telegram agent, add a Vector Store retrieval tool alongside the Data Table tool.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105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2 · RAG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5 — Add RAG to the Telegram Agent (Two Knowledge Sources)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4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377440"/>
            <a:ext cx="914400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61B26"/>
                </a:solidFill>
                <a:latin typeface="Arial"/>
              </a:rPr>
              <a:t>Rewrite the system instruction to route: knowledge base for policy/FAQ, Data Table for staff records.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106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2 · RAG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5 — Add RAG to the Telegram Agent (Two Knowledge Sources)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5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377440"/>
            <a:ext cx="914400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61B26"/>
                </a:solidFill>
                <a:latin typeface="Arial"/>
              </a:rPr>
              <a:t>Save and keep Active; have a few learners present their chatbot.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107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2 · RAG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5 — Add RAG to the Telegram Agent (Two Knowledge Sources)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Ask a policy question and a staff-record question; confirm each is answered from the correct source.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108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WHY PINECONE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From In-Memory to a Real Vector Database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The in-memory store resets when the workflow restarts - fine for a demo.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For production, use a hosted vector database that persists your embeddings.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Pinecone is a popular managed vector database that scales to millions of vectors.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Same idea: embed your documents once, then retrieve the closest chunks per question.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109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VECTOR DATABASE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Pinecone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4937760" cy="42062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Pinecone is a managed (cloud) vector database for RAG.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Free 'Starter' tier is enough for this lab.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Create an index, then point n8n's Pinecone node at it.</a:t>
            </a:r>
          </a:p>
        </p:txBody>
      </p:sp>
      <p:sp>
        <p:nvSpPr>
          <p:cNvPr id="8" name="Rectangle 7"/>
          <p:cNvSpPr/>
          <p:nvPr/>
        </p:nvSpPr>
        <p:spPr>
          <a:xfrm>
            <a:off x="5870448" y="1755648"/>
            <a:ext cx="5650992" cy="358444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ite-pinec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828800"/>
            <a:ext cx="5486400" cy="34290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110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SETUP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Create a Pinecone Index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1. Sign up at pinecone.io and open the console.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2. Create an API key (Database -&gt; API Keys) - you'll paste it into n8n.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3. Create an Index: give it a name (e.g. n8n-course).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4. Set Dimensions to match your embeddings - OpenAI text-embedding-3-small = 1536.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5. Use metric 'cosine'. The index name + key go into the n8n Pinecone node.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111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2 (cont.) - RAG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5b — RAG with Pinecone (Persistent Vector Database)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64208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09928"/>
            <a:ext cx="1554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ACT 5b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1069848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Swap the in-memory vector store for Pinecone so your knowledge base persists. Upload documents into a Pinecone index, then let the Telegram agent answer from it via a Vector Store tool.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Upload -&gt; Embeddings (OpenAI) -&gt; Pinecone (insert)   |   Telegram -&gt; AI Agent + Pinecone tool -&gt; reply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1206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Key nodes:  </a:t>
            </a:r>
            <a:r>
              <a:rPr sz="1300" b="0">
                <a:solidFill>
                  <a:srgbClr val="5B6372"/>
                </a:solidFill>
                <a:latin typeface="Arial"/>
              </a:rPr>
              <a:t>vectorStorePinecone, embeddingsOpenAi, toolVectorStore, agent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112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2 (cont.) - RAG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5b - Pinecone RAG Workflow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Activity5b-Pinecone-R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67431" y="1691640"/>
            <a:ext cx="6656832" cy="41605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5989320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Telegram agent answering from a Pinecone vector store (gpt-4.1-mini)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113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2 (cont.) - RAG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5b — RAG with Pinecone (Persistent Vector Database)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1 OF 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377440"/>
            <a:ext cx="914400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61B26"/>
                </a:solidFill>
                <a:latin typeface="Arial"/>
              </a:rPr>
              <a:t>Sign up at pinecone.io (free Starter tier) and open the console at app.pinecone.io.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114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2 (cont.) - RAG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5b — RAG with Pinecone (Persistent Vector Database)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2 OF 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377440"/>
            <a:ext cx="914400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61B26"/>
                </a:solidFill>
                <a:latin typeface="Arial"/>
              </a:rPr>
              <a:t>Go to API Keys → create / copy an API key — paste it into n8n later.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115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2 (cont.) - RAG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5b — RAG with Pinecone (Persistent Vector Database)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3 OF 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377440"/>
            <a:ext cx="914400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61B26"/>
                </a:solidFill>
                <a:latin typeface="Arial"/>
              </a:rPr>
              <a:t>Open Indexes → Create index; name it n8n-course.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116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2 (cont.) - RAG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5b — RAG with Pinecone (Persistent Vector Database)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4 OF 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377440"/>
            <a:ext cx="914400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61B26"/>
                </a:solidFill>
                <a:latin typeface="Arial"/>
              </a:rPr>
              <a:t>Set Dimensions = 1536 and Metric = cosine, then create the index.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117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2 (cont.) - RAG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5b — RAG with Pinecone (Persistent Vector Database)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5 OF 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377440"/>
            <a:ext cx="914400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61B26"/>
                </a:solidFill>
                <a:latin typeface="Arial"/>
              </a:rPr>
              <a:t>Import Activity5b-Pinecone-Upload.json into n8n.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118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2 (cont.) - RAG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5b — RAG with Pinecone (Persistent Vector Database)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6 OF 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377440"/>
            <a:ext cx="914400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61B26"/>
                </a:solidFill>
                <a:latin typeface="Arial"/>
              </a:rPr>
              <a:t>Add a Pinecone credential and select your n8n-course index on the Pinecone node.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119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2 (cont.) - RAG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5b — RAG with Pinecone (Persistent Vector Database)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7 OF 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377440"/>
            <a:ext cx="914400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61B26"/>
                </a:solidFill>
                <a:latin typeface="Arial"/>
              </a:rPr>
              <a:t>Add your OpenAI credential on the Embeddings node; provide documents and run to insert into Pinecone.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120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2 (cont.) - RAG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5b — RAG with Pinecone (Persistent Vector Database)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8 OF 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377440"/>
            <a:ext cx="914400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61B26"/>
                </a:solidFill>
                <a:latin typeface="Arial"/>
              </a:rPr>
              <a:t>Import Activity5b-Pinecone-RAG.json (Telegram → AI Agent + Pinecone tool → reply).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121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2 (cont.) - RAG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5b — RAG with Pinecone (Persistent Vector Database)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9 OF 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377440"/>
            <a:ext cx="914400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61B26"/>
                </a:solidFill>
                <a:latin typeface="Arial"/>
              </a:rPr>
              <a:t>Select the same Pinecone index and credential, your OpenAI (gpt-4.1-mini) and Telegram credentials.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122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2 (cont.) - RAG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5b — RAG with Pinecone (Persistent Vector Database)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10 OF 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377440"/>
            <a:ext cx="914400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61B26"/>
                </a:solidFill>
                <a:latin typeface="Arial"/>
              </a:rPr>
              <a:t>Save and toggle Active.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123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2 (cont.) - RAG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5b — RAG with Pinecone (Persistent Vector Database)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Upload a document, then ask the Telegram bot a question only answerable from it - the answer is retrieved from Pinecone.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124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937760" y="2148840"/>
            <a:ext cx="2313432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2514600"/>
            <a:ext cx="1219169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800" b="1">
                <a:solidFill>
                  <a:srgbClr val="161B26"/>
                </a:solidFill>
                <a:latin typeface="Arial"/>
              </a:rPr>
              <a:t>Lunch Break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3703320"/>
            <a:ext cx="1219169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F59E0B"/>
                </a:solidFill>
                <a:latin typeface="Arial"/>
              </a:rPr>
              <a:t>1 hour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TOPIC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Webhooks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411480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External triggers for your workflows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8320" y="640080"/>
            <a:ext cx="2286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126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CONCEPT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What is a Webhook?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A Webhook is a URL that external systems call to trigger your workflow.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Use cases: website chat, form submissions, payments, app notifications.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Pair the Webhook trigger with a Respond to Webhook node to reply.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127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EVENT -&gt; WORKFLOW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How a Webhook Works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1. You activate an n8n Webhook node - it gives you a unique URL.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2. An external system (website, app, Telegram) sends an HTTP request to that URL.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3. n8n runs your workflow with the request data as the trigger input.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4. A Respond to Webhook node sends a reply back to the caller.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It is 'reverse' of an API call: the outside world calls YOU when an event happens.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128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TWO WAYS TO SEND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Webhook: GET vs POST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GET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POST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1F6FEB"/>
                </a:solidFill>
                <a:latin typeface="Arial"/>
              </a:rPr>
              <a:t>•  </a:t>
            </a:r>
            <a:r>
              <a:rPr sz="1700">
                <a:solidFill>
                  <a:srgbClr val="161B26"/>
                </a:solidFill>
                <a:latin typeface="Arial"/>
              </a:rPr>
              <a:t>GET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5B6372"/>
                </a:solidFill>
                <a:latin typeface="Arial"/>
              </a:rPr>
              <a:t>   –  </a:t>
            </a:r>
            <a:r>
              <a:rPr sz="1600">
                <a:solidFill>
                  <a:srgbClr val="161B26"/>
                </a:solidFill>
                <a:latin typeface="Arial"/>
              </a:rPr>
              <a:t>Data comes in the URL query string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5B6372"/>
                </a:solidFill>
                <a:latin typeface="Arial"/>
              </a:rPr>
              <a:t>   –  </a:t>
            </a:r>
            <a:r>
              <a:rPr sz="1600">
                <a:solidFill>
                  <a:srgbClr val="161B26"/>
                </a:solidFill>
                <a:latin typeface="Arial"/>
              </a:rPr>
              <a:t>?name=Alice&amp;topic=AI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5B6372"/>
                </a:solidFill>
                <a:latin typeface="Arial"/>
              </a:rPr>
              <a:t>   –  </a:t>
            </a:r>
            <a:r>
              <a:rPr sz="1600">
                <a:solidFill>
                  <a:srgbClr val="161B26"/>
                </a:solidFill>
                <a:latin typeface="Arial"/>
              </a:rPr>
              <a:t>Good for simple links / browser visits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10B981"/>
                </a:solidFill>
                <a:latin typeface="Arial"/>
              </a:rPr>
              <a:t>•  </a:t>
            </a:r>
            <a:r>
              <a:rPr sz="1700">
                <a:solidFill>
                  <a:srgbClr val="161B26"/>
                </a:solidFill>
                <a:latin typeface="Arial"/>
              </a:rPr>
              <a:t>POST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5B6372"/>
                </a:solidFill>
                <a:latin typeface="Arial"/>
              </a:rPr>
              <a:t>   –  </a:t>
            </a:r>
            <a:r>
              <a:rPr sz="1600">
                <a:solidFill>
                  <a:srgbClr val="161B26"/>
                </a:solidFill>
                <a:latin typeface="Arial"/>
              </a:rPr>
              <a:t>Data comes in the request body (JSON)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5B6372"/>
                </a:solidFill>
                <a:latin typeface="Arial"/>
              </a:rPr>
              <a:t>   –  </a:t>
            </a:r>
            <a:r>
              <a:rPr sz="1600">
                <a:solidFill>
                  <a:srgbClr val="161B26"/>
                </a:solidFill>
                <a:latin typeface="Arial"/>
              </a:rPr>
              <a:t>{ "message": "hello" }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5B6372"/>
                </a:solidFill>
                <a:latin typeface="Arial"/>
              </a:rPr>
              <a:t>   –  </a:t>
            </a:r>
            <a:r>
              <a:rPr sz="1600">
                <a:solidFill>
                  <a:srgbClr val="161B26"/>
                </a:solidFill>
                <a:latin typeface="Arial"/>
              </a:rPr>
              <a:t>Used by website chat &amp; app callbacks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129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DIRECTION OF THE CALL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HTTP Request vs Webhook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Outbound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Inbound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1F6FEB"/>
                </a:solidFill>
                <a:latin typeface="Arial"/>
              </a:rPr>
              <a:t>•  </a:t>
            </a:r>
            <a:r>
              <a:rPr sz="1700">
                <a:solidFill>
                  <a:srgbClr val="161B26"/>
                </a:solidFill>
                <a:latin typeface="Arial"/>
              </a:rPr>
              <a:t>HTTP Request node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5B6372"/>
                </a:solidFill>
                <a:latin typeface="Arial"/>
              </a:rPr>
              <a:t>   –  </a:t>
            </a:r>
            <a:r>
              <a:rPr sz="1600">
                <a:solidFill>
                  <a:srgbClr val="161B26"/>
                </a:solidFill>
                <a:latin typeface="Arial"/>
              </a:rPr>
              <a:t>YOUR workflow CALLS an external service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5B6372"/>
                </a:solidFill>
                <a:latin typeface="Arial"/>
              </a:rPr>
              <a:t>   –  </a:t>
            </a:r>
            <a:r>
              <a:rPr sz="1600">
                <a:solidFill>
                  <a:srgbClr val="161B26"/>
                </a:solidFill>
                <a:latin typeface="Arial"/>
              </a:rPr>
              <a:t>You pull data when you choose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10B981"/>
                </a:solidFill>
                <a:latin typeface="Arial"/>
              </a:rPr>
              <a:t>•  </a:t>
            </a:r>
            <a:r>
              <a:rPr sz="1700">
                <a:solidFill>
                  <a:srgbClr val="161B26"/>
                </a:solidFill>
                <a:latin typeface="Arial"/>
              </a:rPr>
              <a:t>Webhook node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5B6372"/>
                </a:solidFill>
                <a:latin typeface="Arial"/>
              </a:rPr>
              <a:t>   –  </a:t>
            </a:r>
            <a:r>
              <a:rPr sz="1600">
                <a:solidFill>
                  <a:srgbClr val="161B26"/>
                </a:solidFill>
                <a:latin typeface="Arial"/>
              </a:rPr>
              <a:t>An external service CALLS your workflow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5B6372"/>
                </a:solidFill>
                <a:latin typeface="Arial"/>
              </a:rPr>
              <a:t>   –  </a:t>
            </a:r>
            <a:r>
              <a:rPr sz="1600">
                <a:solidFill>
                  <a:srgbClr val="161B26"/>
                </a:solidFill>
                <a:latin typeface="Arial"/>
              </a:rPr>
              <a:t>You react when an event happens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130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SETUP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Webhook Node &amp; URL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Each Webhook node has a Test URL and a Production URL.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Set the HTTP method (GET/POST) and a path.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Set Allowed Origins (CORS) to * so a browser page can call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131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SECURING WEBHOOKS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Webhook Authentication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None — open endpoint (fine for demos).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Basic Auth — username &amp; password.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Header Auth — a secret key in a request header.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JWT — signed tokens for stronger security.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132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3 · WEBHOOKS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6 — Website Chatbot via Webhook (Investment Advisor)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64208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09928"/>
            <a:ext cx="1554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ACT 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1069848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Expose an AI agent to a public website via a Webhook. The Investment Advisor page has an enquiry form and a floating chatbot; both post to one n8n webhook.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Webhook  →  AI Agent  →  Respond to Webhook  (+ email the advisor)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1206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Key nodes:  </a:t>
            </a:r>
            <a:r>
              <a:rPr sz="1300" b="0">
                <a:solidFill>
                  <a:srgbClr val="5B6372"/>
                </a:solidFill>
                <a:latin typeface="Arial"/>
              </a:rPr>
              <a:t>webhook, agent, respondToWebhook, gmail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133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3 · WEBHOOKS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6 — Website Chatbot via Webhook (Investment Advisor) — Workflow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Activity6-Investment-Advis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7512" y="1691640"/>
            <a:ext cx="6996670" cy="41605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5989320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One webhook, two paths: enquiry email + AI chat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134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3 · WEBHOOKS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6 — Website Chatbot via Webhook (Investment Advisor)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1 OF 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377440"/>
            <a:ext cx="914400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61B26"/>
                </a:solidFill>
                <a:latin typeface="Arial"/>
              </a:rPr>
              <a:t>Import Activity6-Investment-Advisor.json into n8n.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135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3 · WEBHOOKS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6 — Website Chatbot via Webhook (Investment Advisor)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2 OF 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377440"/>
            <a:ext cx="914400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61B26"/>
                </a:solidFill>
                <a:latin typeface="Arial"/>
              </a:rPr>
              <a:t>Open the Webhook node(s) and set Allowed Origins (CORS) to *.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136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3 · WEBHOOKS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6 — Website Chatbot via Webhook (Investment Advisor)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3 OF 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377440"/>
            <a:ext cx="914400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61B26"/>
                </a:solidFill>
                <a:latin typeface="Arial"/>
              </a:rPr>
              <a:t>Re-select your OpenAI and Gmail credentials on the agent and email nodes.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137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3 · WEBHOOKS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6 — Website Chatbot via Webhook (Investment Advisor)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4 OF 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377440"/>
            <a:ext cx="914400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61B26"/>
                </a:solidFill>
                <a:latin typeface="Arial"/>
              </a:rPr>
              <a:t>Review the compliance system instruction (no guaranteed returns, no personalised advice).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138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3 · WEBHOOKS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6 — Website Chatbot via Webhook (Investment Advisor)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5 OF 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377440"/>
            <a:ext cx="914400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61B26"/>
                </a:solidFill>
                <a:latin typeface="Arial"/>
              </a:rPr>
              <a:t>Save, Activate, and copy the webhook Production URL.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139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3 · WEBHOOKS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6 — Website Chatbot via Webhook (Investment Advisor)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6 OF 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377440"/>
            <a:ext cx="914400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61B26"/>
                </a:solidFill>
                <a:latin typeface="Arial"/>
              </a:rPr>
              <a:t>Paste the Production URL into script.js in the activity folder.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140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3 · WEBHOOKS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6 — Website Chatbot via Webhook (Investment Advisor)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7 OF 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377440"/>
            <a:ext cx="914400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61B26"/>
                </a:solidFill>
                <a:latin typeface="Arial"/>
              </a:rPr>
              <a:t>Open index.html from the activity folder.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141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3 · WEBHOOKS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6 — Website Chatbot via Webhook (Investment Advisor)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On the website, send a chat message and submit the enquiry form; confirm the bot replies and the advisor gets the email.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142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937760" y="2148840"/>
            <a:ext cx="2313432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2514600"/>
            <a:ext cx="1219169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800" b="1">
                <a:solidFill>
                  <a:srgbClr val="161B26"/>
                </a:solidFill>
                <a:latin typeface="Arial"/>
              </a:rPr>
              <a:t>Tea Break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3703320"/>
            <a:ext cx="1219169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10B981"/>
                </a:solidFill>
                <a:latin typeface="Arial"/>
              </a:rPr>
              <a:t>15 minutes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TOPIC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API and HTTP Request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411480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Pull live data from external services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8320" y="640080"/>
            <a:ext cx="2286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>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144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CONCEPT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What is an API?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An API lets your workflow request data from another service over HTTP.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You send a request; the service sends back a response (usually JSON).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APIs power live data: prices, weather, news, CRM records.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145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WORKFLOW -&gt; SERVICE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How an API Works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1. Your workflow (the client) sends an HTTP request to an API endpoint (URL).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2. You include a method, headers (often an API key) and parameters.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3. The server processes it and returns a response - usually JSON.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4. n8n parses the JSON and passes the fields to the next node.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Here, YOU call the outside service (the opposite of a webhook).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146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THE TWO MAIN METHODS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API: GET vs POST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GET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POST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1F6FEB"/>
                </a:solidFill>
                <a:latin typeface="Arial"/>
              </a:rPr>
              <a:t>•  </a:t>
            </a:r>
            <a:r>
              <a:rPr sz="1700">
                <a:solidFill>
                  <a:srgbClr val="161B26"/>
                </a:solidFill>
                <a:latin typeface="Arial"/>
              </a:rPr>
              <a:t>GET - read data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5B6372"/>
                </a:solidFill>
                <a:latin typeface="Arial"/>
              </a:rPr>
              <a:t>   –  </a:t>
            </a:r>
            <a:r>
              <a:rPr sz="1600">
                <a:solidFill>
                  <a:srgbClr val="161B26"/>
                </a:solidFill>
                <a:latin typeface="Arial"/>
              </a:rPr>
              <a:t>Fetch prices, news, records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5B6372"/>
                </a:solidFill>
                <a:latin typeface="Arial"/>
              </a:rPr>
              <a:t>   –  </a:t>
            </a:r>
            <a:r>
              <a:rPr sz="1600">
                <a:solidFill>
                  <a:srgbClr val="161B26"/>
                </a:solidFill>
                <a:latin typeface="Arial"/>
              </a:rPr>
              <a:t>Parameters in the URL query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5B6372"/>
                </a:solidFill>
                <a:latin typeface="Arial"/>
              </a:rPr>
              <a:t>   –  </a:t>
            </a:r>
            <a:r>
              <a:rPr sz="1600">
                <a:solidFill>
                  <a:srgbClr val="161B26"/>
                </a:solidFill>
                <a:latin typeface="Arial"/>
              </a:rPr>
              <a:t>Safe &amp; repeatable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10B981"/>
                </a:solidFill>
                <a:latin typeface="Arial"/>
              </a:rPr>
              <a:t>•  </a:t>
            </a:r>
            <a:r>
              <a:rPr sz="1700">
                <a:solidFill>
                  <a:srgbClr val="161B26"/>
                </a:solidFill>
                <a:latin typeface="Arial"/>
              </a:rPr>
              <a:t>POST - send / create data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5B6372"/>
                </a:solidFill>
                <a:latin typeface="Arial"/>
              </a:rPr>
              <a:t>   –  </a:t>
            </a:r>
            <a:r>
              <a:rPr sz="1600">
                <a:solidFill>
                  <a:srgbClr val="161B26"/>
                </a:solidFill>
                <a:latin typeface="Arial"/>
              </a:rPr>
              <a:t>Submit a form, create a record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5B6372"/>
                </a:solidFill>
                <a:latin typeface="Arial"/>
              </a:rPr>
              <a:t>   –  </a:t>
            </a:r>
            <a:r>
              <a:rPr sz="1600">
                <a:solidFill>
                  <a:srgbClr val="161B26"/>
                </a:solidFill>
                <a:latin typeface="Arial"/>
              </a:rPr>
              <a:t>Parameters in the JSON body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5B6372"/>
                </a:solidFill>
                <a:latin typeface="Arial"/>
              </a:rPr>
              <a:t>   –  </a:t>
            </a:r>
            <a:r>
              <a:rPr sz="1600">
                <a:solidFill>
                  <a:srgbClr val="161B26"/>
                </a:solidFill>
                <a:latin typeface="Arial"/>
              </a:rPr>
              <a:t>Changes data on the server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147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ANATOMY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Components of an HTTP Request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Method — GET (read), POST (send), PUT, DELETE.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URL / endpoint — the address of the resource.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Headers — metadata, including authentication.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Query params / body — the inputs you send.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148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READING RESPONSES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HTTP Response &amp; Status Codes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Body — the data returned (often JSON).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200 OK — success; 201 Created.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401 Unauthorized — bad/missing API key; 429 — rate limited.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4xx = your request; 5xx = the server.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149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IN n8n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HTTP Request Node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Configure method, URL, headers and query parameters.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Store API keys in credentials, never hard-coded.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Parse the JSON response and pass fields to the next node.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150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MARKET DATA API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Twelve Data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4937760" cy="42062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Twelve Data provides live stock / forex / crypto market data.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Sign up (free Basic plan), then Account -&gt; API Keys.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Paste the apikey into the 3 'candles' HTTP nodes.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5870448" y="1755648"/>
            <a:ext cx="5650992" cy="358444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ite-twelveda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828800"/>
            <a:ext cx="5486400" cy="34290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151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NEWS API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NewsAPI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4937760" cy="42062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NewsAPI returns recent news articles for a search query.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Register (free Developer plan) and copy your API key.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Store it as a Query Auth credential (name = apiKey) on the news node.</a:t>
            </a:r>
          </a:p>
        </p:txBody>
      </p:sp>
      <p:sp>
        <p:nvSpPr>
          <p:cNvPr id="8" name="Rectangle 7"/>
          <p:cNvSpPr/>
          <p:nvPr/>
        </p:nvSpPr>
        <p:spPr>
          <a:xfrm>
            <a:off x="5870448" y="1755648"/>
            <a:ext cx="5650992" cy="358444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ite-newsap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828800"/>
            <a:ext cx="5486400" cy="34290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152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4 · API &amp; HTTP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7 — Finance API → Telegram (AI Day-Trading Agent)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64208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09928"/>
            <a:ext cx="1554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ACT 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1069848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Ask the Telegram bot about a stock; it resolves the ticker, pulls candles from Twelve Data and headlines from NewsAPI, and replies with a Buy/Sell/Hold call and reasoning.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Telegram → Extract ticker → HTTP (Twelve Data + NewsAPI) → AI Agent → reply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1206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Key nodes:  </a:t>
            </a:r>
            <a:r>
              <a:rPr sz="1300" b="0">
                <a:solidFill>
                  <a:srgbClr val="5B6372"/>
                </a:solidFill>
                <a:latin typeface="Arial"/>
              </a:rPr>
              <a:t>telegram, httpRequest, agent, lmChatOpenAi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153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4 · API &amp; HTTP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7 — Finance API → Telegram (AI Day-Trading Agent) — Workflow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Activity7-Finance-Advis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7512" y="1691640"/>
            <a:ext cx="6996670" cy="41605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5989320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Multi-timeframe candles + news → AI day-trading agent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154</a:t>
            </a: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4 · API &amp; HTTP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7 — Finance API → Telegram (AI Day-Trading Agent)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1 OF 13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377440"/>
            <a:ext cx="914400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61B26"/>
                </a:solidFill>
                <a:latin typeface="Arial"/>
              </a:rPr>
              <a:t>Sign up at twelvedata.com (free Basic plan) → Account → API Keys → copy your key.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155</a:t>
            </a:r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4 · API &amp; HTTP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7 — Finance API → Telegram (AI Day-Trading Agent)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2 OF 13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377440"/>
            <a:ext cx="914400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61B26"/>
                </a:solidFill>
                <a:latin typeface="Arial"/>
              </a:rPr>
              <a:t>Sign up at newsapi.org (free Developer plan) → copy your key from newsapi.org/account.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156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4 · API &amp; HTTP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7 — Finance API → Telegram (AI Day-Trading Agent)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3 OF 13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377440"/>
            <a:ext cx="914400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61B26"/>
                </a:solidFill>
                <a:latin typeface="Arial"/>
              </a:rPr>
              <a:t>Import Activity7-Finance-Advisor.json into n8n.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157</a:t>
            </a:r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4 · API &amp; HTTP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7 — Finance API → Telegram (AI Day-Trading Agent)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4 OF 13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377440"/>
            <a:ext cx="914400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61B26"/>
                </a:solidFill>
                <a:latin typeface="Arial"/>
              </a:rPr>
              <a:t>Open candles1min → Query Parameters → find apikey → replace with your Twelve Data key.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158</a:t>
            </a:r>
          </a:p>
        </p:txBody>
      </p:sp>
    </p:spTree>
  </p:cSld>
  <p:clrMapOvr>
    <a:masterClrMapping/>
  </p:clrMapOvr>
</p:sld>
</file>

<file path=ppt/slides/slide1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4 · API &amp; HTTP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7 — Finance API → Telegram (AI Day-Trading Agent)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5 OF 13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377440"/>
            <a:ext cx="914400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61B26"/>
                </a:solidFill>
                <a:latin typeface="Arial"/>
              </a:rPr>
              <a:t>Repeat for candles15min and candles1hr — all three nodes need the same Twelve Data key.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159</a:t>
            </a:r>
          </a:p>
        </p:txBody>
      </p:sp>
    </p:spTree>
  </p:cSld>
  <p:clrMapOvr>
    <a:masterClrMapping/>
  </p:clrMapOvr>
</p:sld>
</file>

<file path=ppt/slides/slide1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4 · API &amp; HTTP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7 — Finance API → Telegram (AI Day-Trading Agent)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6 OF 13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377440"/>
            <a:ext cx="914400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61B26"/>
                </a:solidFill>
                <a:latin typeface="Arial"/>
              </a:rPr>
              <a:t>Open the news HTTP Request node.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160</a:t>
            </a:r>
          </a:p>
        </p:txBody>
      </p:sp>
    </p:spTree>
  </p:cSld>
  <p:clrMapOvr>
    <a:masterClrMapping/>
  </p:clrMapOvr>
</p:sld>
</file>

<file path=ppt/slides/slide1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4 · API &amp; HTTP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7 — Finance API → Telegram (AI Day-Trading Agent)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7 OF 13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377440"/>
            <a:ext cx="914400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61B26"/>
                </a:solidFill>
                <a:latin typeface="Arial"/>
              </a:rPr>
              <a:t>Click Credential → Create New Credential.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161</a:t>
            </a:r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4 · API &amp; HTTP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7 — Finance API → Telegram (AI Day-Trading Agent)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8 OF 13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377440"/>
            <a:ext cx="914400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61B26"/>
                </a:solidFill>
                <a:latin typeface="Arial"/>
              </a:rPr>
              <a:t>Scroll to Query Parameters → find apikey.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162</a:t>
            </a:r>
          </a:p>
        </p:txBody>
      </p:sp>
    </p:spTree>
  </p:cSld>
  <p:clrMapOvr>
    <a:masterClrMapping/>
  </p:clrMapOvr>
</p:sld>
</file>

<file path=ppt/slides/slide1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4 · API &amp; HTTP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7 — Finance API → Telegram (AI Day-Trading Agent)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9 OF 13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377440"/>
            <a:ext cx="914400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61B26"/>
                </a:solidFill>
                <a:latin typeface="Arial"/>
              </a:rPr>
              <a:t>Replace YOUR_NEWS_API_KEY with your NewsAPI key.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163</a:t>
            </a:r>
          </a:p>
        </p:txBody>
      </p:sp>
    </p:spTree>
  </p:cSld>
  <p:clrMapOvr>
    <a:masterClrMapping/>
  </p:clrMapOvr>
</p:sld>
</file>

<file path=ppt/slides/slide1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4 · API &amp; HTTP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7 — Finance API → Telegram (AI Day-Trading Agent)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10 OF 13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377440"/>
            <a:ext cx="914400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61B26"/>
                </a:solidFill>
                <a:latin typeface="Arial"/>
              </a:rPr>
              <a:t>Back on the news node, make sure your new credential is selected.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164</a:t>
            </a:r>
          </a:p>
        </p:txBody>
      </p:sp>
    </p:spTree>
  </p:cSld>
  <p:clrMapOvr>
    <a:masterClrMapping/>
  </p:clrMapOvr>
</p:sld>
</file>

<file path=ppt/slides/slide1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4 · API &amp; HTTP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7 — Finance API → Telegram (AI Day-Trading Agent)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11 OF 13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377440"/>
            <a:ext cx="914400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61B26"/>
                </a:solidFill>
                <a:latin typeface="Arial"/>
              </a:rPr>
              <a:t>Re-select your OpenAI and Telegram credentials on the model and Telegram nodes.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165</a:t>
            </a:r>
          </a:p>
        </p:txBody>
      </p:sp>
    </p:spTree>
  </p:cSld>
  <p:clrMapOvr>
    <a:masterClrMapping/>
  </p:clrMapOvr>
</p:sld>
</file>

<file path=ppt/slides/slide1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4 · API &amp; HTTP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7 — Finance API → Telegram (AI Day-Trading Agent)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12 OF 13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377440"/>
            <a:ext cx="914400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61B26"/>
                </a:solidFill>
                <a:latin typeface="Arial"/>
              </a:rPr>
              <a:t>Review: Telegram Trigger → Extract Ticker → candles (1m/15m/1h) + news → AI Agent → reply.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166</a:t>
            </a:r>
          </a:p>
        </p:txBody>
      </p:sp>
    </p:spTree>
  </p:cSld>
  <p:clrMapOvr>
    <a:masterClrMapping/>
  </p:clrMapOvr>
</p:sld>
</file>

<file path=ppt/slides/slide1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4 · API &amp; HTTP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7 — Finance API → Telegram (AI Day-Trading Agent)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13 OF 13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377440"/>
            <a:ext cx="914400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61B26"/>
                </a:solidFill>
                <a:latin typeface="Arial"/>
              </a:rPr>
              <a:t>Save and toggle Active; optionally open index.html and paste your Twelve Data key + bot username.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167</a:t>
            </a:r>
          </a:p>
        </p:txBody>
      </p:sp>
    </p:spTree>
  </p:cSld>
  <p:clrMapOvr>
    <a:masterClrMapping/>
  </p:clrMapOvr>
</p:sld>
</file>

<file path=ppt/slides/slide1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4 · API &amp; HTTP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7 — Finance API → Telegram (AI Day-Trading Agent)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Message the bot 'Should I buy AAPL?' and confirm it returns a recommendation with reasoning.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168</a:t>
            </a:r>
          </a:p>
        </p:txBody>
      </p:sp>
    </p:spTree>
  </p:cSld>
  <p:clrMapOvr>
    <a:masterClrMapping/>
  </p:clrMapOvr>
</p:sld>
</file>

<file path=ppt/slides/slide1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WRAP-UP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End of Day 2 — Recap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You grounded an agent with RAG over your own documents.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You exposed an agent to a website via a webhook.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You pulled live market + news data through APIs into a Telegram agent.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169</a:t>
            </a:r>
          </a:p>
        </p:txBody>
      </p:sp>
    </p:spTree>
  </p:cSld>
  <p:clrMapOvr>
    <a:masterClrMapping/>
  </p:clrMapOvr>
</p:sld>
</file>

<file path=ppt/slides/slide1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TOPIC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Security and Guardrails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411480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Human-in-the-loop · Pre/Post guardrails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8320" y="640080"/>
            <a:ext cx="2286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>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170</a:t>
            </a:r>
          </a:p>
        </p:txBody>
      </p:sp>
    </p:spTree>
  </p:cSld>
  <p:clrMapOvr>
    <a:masterClrMapping/>
  </p:clrMapOvr>
</p:sld>
</file>

<file path=ppt/slides/slide1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CONCEPT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Human in the Loop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Some actions are too sensitive to fully automate — money, hiring, sending on behalf.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A human-in-the-loop step pauses the workflow for a person to Approve or Reject.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n8n's Send and Wait for Response captures that decision (email / Telegram).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171</a:t>
            </a:r>
          </a:p>
        </p:txBody>
      </p:sp>
    </p:spTree>
  </p:cSld>
  <p:clrMapOvr>
    <a:masterClrMapping/>
  </p:clrMapOvr>
</p:sld>
</file>

<file path=ppt/slides/slide1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5 · 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8a — Human-in-the-Loop Approval (Leave Application)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64208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09928"/>
            <a:ext cx="1554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ACT 8a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1069848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Model a leave-application approval: a request comes in, a manager is asked to approve, and the flow only continues — recording the leave and confirming — on approval.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Form → Manager Approval (Send &amp; Wait) → IF → confirm / decline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1206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Key nodes:  </a:t>
            </a:r>
            <a:r>
              <a:rPr sz="1300" b="0">
                <a:solidFill>
                  <a:srgbClr val="5B6372"/>
                </a:solidFill>
                <a:latin typeface="Arial"/>
              </a:rPr>
              <a:t>formTrigger, gmail (sendAndWait), if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172</a:t>
            </a:r>
          </a:p>
        </p:txBody>
      </p:sp>
    </p:spTree>
  </p:cSld>
  <p:clrMapOvr>
    <a:masterClrMapping/>
  </p:clrMapOvr>
</p:sld>
</file>

<file path=ppt/slides/slide1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5 · 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8a — Human-in-the-Loop Approval (Leave Application) — Workflow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Activity8a-Human-in-the-Lo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9487" y="1691640"/>
            <a:ext cx="10332720" cy="381287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5989320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Approval pauses the flow until a manager decides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173</a:t>
            </a:r>
          </a:p>
        </p:txBody>
      </p:sp>
    </p:spTree>
  </p:cSld>
  <p:clrMapOvr>
    <a:masterClrMapping/>
  </p:clrMapOvr>
</p:sld>
</file>

<file path=ppt/slides/slide1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5 · 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8a — Human-in-the-Loop Approval (Leave Application)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1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377440"/>
            <a:ext cx="914400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61B26"/>
                </a:solidFill>
                <a:latin typeface="Arial"/>
              </a:rPr>
              <a:t>Start with a Form Trigger collecting Employee, Email, Dates, Reason.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174</a:t>
            </a:r>
          </a:p>
        </p:txBody>
      </p:sp>
    </p:spTree>
  </p:cSld>
  <p:clrMapOvr>
    <a:masterClrMapping/>
  </p:clrMapOvr>
</p:sld>
</file>

<file path=ppt/slides/slide1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5 · 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8a — Human-in-the-Loop Approval (Leave Application)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2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377440"/>
            <a:ext cx="914400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61B26"/>
                </a:solidFill>
                <a:latin typeface="Arial"/>
              </a:rPr>
              <a:t>Add a Gmail → Send and Wait for Response (Approval) addressed to the manager.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175</a:t>
            </a:r>
          </a:p>
        </p:txBody>
      </p:sp>
    </p:spTree>
  </p:cSld>
  <p:clrMapOvr>
    <a:masterClrMapping/>
  </p:clrMapOvr>
</p:sld>
</file>

<file path=ppt/slides/slide1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5 · 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8a — Human-in-the-Loop Approval (Leave Application)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3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377440"/>
            <a:ext cx="914400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61B26"/>
                </a:solidFill>
                <a:latin typeface="Arial"/>
              </a:rPr>
              <a:t>Add an IF node on the approval result.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176</a:t>
            </a:r>
          </a:p>
        </p:txBody>
      </p:sp>
    </p:spTree>
  </p:cSld>
  <p:clrMapOvr>
    <a:masterClrMapping/>
  </p:clrMapOvr>
</p:sld>
</file>

<file path=ppt/slides/slide1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5 · 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8a — Human-in-the-Loop Approval (Leave Application)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4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377440"/>
            <a:ext cx="914400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61B26"/>
                </a:solidFill>
                <a:latin typeface="Arial"/>
              </a:rPr>
              <a:t>On Approved: record the leave (Data Table) and email a confirmation.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177</a:t>
            </a:r>
          </a:p>
        </p:txBody>
      </p:sp>
    </p:spTree>
  </p:cSld>
  <p:clrMapOvr>
    <a:masterClrMapping/>
  </p:clrMapOvr>
</p:sld>
</file>

<file path=ppt/slides/slide1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5 · 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8a — Human-in-the-Loop Approval (Leave Application)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5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377440"/>
            <a:ext cx="914400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61B26"/>
                </a:solidFill>
                <a:latin typeface="Arial"/>
              </a:rPr>
              <a:t>On Rejected: email the employee that the request was declined. Save &amp; Activate.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178</a:t>
            </a:r>
          </a:p>
        </p:txBody>
      </p:sp>
    </p:spTree>
  </p:cSld>
  <p:clrMapOvr>
    <a:masterClrMapping/>
  </p:clrMapOvr>
</p:sld>
</file>

<file path=ppt/slides/slide1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5 · 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8a — Human-in-the-Loop Approval (Leave Application)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Submit a leave request, approve it from the manager email, and confirm the employee gets a confirmation.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179</a:t>
            </a:r>
          </a:p>
        </p:txBody>
      </p:sp>
    </p:spTree>
  </p:cSld>
  <p:clrMapOvr>
    <a:masterClrMapping/>
  </p:clrMapOvr>
</p:sld>
</file>

<file path=ppt/slides/slide1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CONCEPT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Guardrails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Pre-guardrail — validate/sanitise the input (block prompt-injection, PII) before the LLM.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Post-guardrail — check the output (no secrets, no disallowed content) before sending.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On a violation, route to a safe fallback or human review.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180</a:t>
            </a:r>
          </a:p>
        </p:txBody>
      </p:sp>
    </p:spTree>
  </p:cSld>
  <p:clrMapOvr>
    <a:masterClrMapping/>
  </p:clrMapOvr>
</p:sld>
</file>

<file path=ppt/slides/slide1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5 · 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8b — Pre &amp; Post Guardrails for the AI Agent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64208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09928"/>
            <a:ext cx="1554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ACT 8b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1069848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Wrap an AI agent so unsafe input never reaches the model and unsafe output never reaches the user. Add a pre-check before the agent and a post-check after it.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Webhook → Pre-check → AI Agent → Post-check → Respond / Blocked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1206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Key nodes:  </a:t>
            </a:r>
            <a:r>
              <a:rPr sz="1300" b="0">
                <a:solidFill>
                  <a:srgbClr val="5B6372"/>
                </a:solidFill>
                <a:latin typeface="Arial"/>
              </a:rPr>
              <a:t>webhook, if, agent, respondToWebhook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181</a:t>
            </a:r>
          </a:p>
        </p:txBody>
      </p:sp>
    </p:spTree>
  </p:cSld>
  <p:clrMapOvr>
    <a:masterClrMapping/>
  </p:clrMapOvr>
</p:sld>
</file>

<file path=ppt/slides/slide1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5 · 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8b — Pre &amp; Post Guardrails for the AI Agent — Workflow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Activity8b-Guardrai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9487" y="1691640"/>
            <a:ext cx="10332720" cy="305604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5989320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Pre/post checks gate the agent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182</a:t>
            </a:r>
          </a:p>
        </p:txBody>
      </p:sp>
    </p:spTree>
  </p:cSld>
  <p:clrMapOvr>
    <a:masterClrMapping/>
  </p:clrMapOvr>
</p:sld>
</file>

<file path=ppt/slides/slide1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5 · 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8b — Pre &amp; Post Guardrails for the AI Agent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1 OF 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377440"/>
            <a:ext cx="914400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61B26"/>
                </a:solidFill>
                <a:latin typeface="Arial"/>
              </a:rPr>
              <a:t>Start from the Activity 6 webhook agent (or the Telegram agent).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183</a:t>
            </a:r>
          </a:p>
        </p:txBody>
      </p:sp>
    </p:spTree>
  </p:cSld>
  <p:clrMapOvr>
    <a:masterClrMapping/>
  </p:clrMapOvr>
</p:sld>
</file>

<file path=ppt/slides/slide1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5 · 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8b — Pre &amp; Post Guardrails for the AI Agent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2 OF 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377440"/>
            <a:ext cx="914400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61B26"/>
                </a:solidFill>
                <a:latin typeface="Arial"/>
              </a:rPr>
              <a:t>Before the AI Agent, add a Guardrails node that checks the user message for secret keys or blocked keywords.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184</a:t>
            </a:r>
          </a:p>
        </p:txBody>
      </p:sp>
    </p:spTree>
  </p:cSld>
  <p:clrMapOvr>
    <a:masterClrMapping/>
  </p:clrMapOvr>
</p:sld>
</file>

<file path=ppt/slides/slide1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5 · 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8b — Pre &amp; Post Guardrails for the AI Agent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3 OF 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377440"/>
            <a:ext cx="914400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61B26"/>
                </a:solidFill>
                <a:latin typeface="Arial"/>
              </a:rPr>
              <a:t>After the AI Agent, add a second Guardrails check on the reply; adjust the keyword list as you like.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185</a:t>
            </a:r>
          </a:p>
        </p:txBody>
      </p:sp>
    </p:spTree>
  </p:cSld>
  <p:clrMapOvr>
    <a:masterClrMapping/>
  </p:clrMapOvr>
</p:sld>
</file>

<file path=ppt/slides/slide1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5 · 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8b — Pre &amp; Post Guardrails for the AI Agent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4 OF 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377440"/>
            <a:ext cx="914400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61B26"/>
                </a:solidFill>
                <a:latin typeface="Arial"/>
              </a:rPr>
              <a:t>If either guardrail fails, the false branch returns a safe canned response.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186</a:t>
            </a:r>
          </a:p>
        </p:txBody>
      </p:sp>
    </p:spTree>
  </p:cSld>
  <p:clrMapOvr>
    <a:masterClrMapping/>
  </p:clrMapOvr>
</p:sld>
</file>

<file path=ppt/slides/slide1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5 · 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8b — Pre &amp; Post Guardrails for the AI Agent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5 OF 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377440"/>
            <a:ext cx="914400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61B26"/>
                </a:solidFill>
                <a:latin typeface="Arial"/>
              </a:rPr>
              <a:t>Only send the reply when both guardrails pass.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187</a:t>
            </a:r>
          </a:p>
        </p:txBody>
      </p:sp>
    </p:spTree>
  </p:cSld>
  <p:clrMapOvr>
    <a:masterClrMapping/>
  </p:clrMapOvr>
</p:sld>
</file>

<file path=ppt/slides/slide1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5 · 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8b — Pre &amp; Post Guardrails for the AI Agent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6 OF 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377440"/>
            <a:ext cx="914400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61B26"/>
                </a:solidFill>
                <a:latin typeface="Arial"/>
              </a:rPr>
              <a:t>Save and keep Active.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188</a:t>
            </a:r>
          </a:p>
        </p:txBody>
      </p:sp>
    </p:spTree>
  </p:cSld>
  <p:clrMapOvr>
    <a:masterClrMapping/>
  </p:clrMapOvr>
</p:sld>
</file>

<file path=ppt/slides/slide1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5 · 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8b — Pre &amp; Post Guardrails for the AI Agent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Send a normal question (passes through) and a disallowed one — e.g. 'my password is sk-12345678' — and confirm the pre-guardrail blocks it with a safe reply.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189</a:t>
            </a:r>
          </a:p>
        </p:txBody>
      </p:sp>
    </p:spTree>
  </p:cSld>
  <p:clrMapOvr>
    <a:masterClrMapping/>
  </p:clrMapOvr>
</p:sld>
</file>

<file path=ppt/slides/slide1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937760" y="2148840"/>
            <a:ext cx="2313432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2514600"/>
            <a:ext cx="1219169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800" b="1">
                <a:solidFill>
                  <a:srgbClr val="161B26"/>
                </a:solidFill>
                <a:latin typeface="Arial"/>
              </a:rPr>
              <a:t>Lunch Break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3703320"/>
            <a:ext cx="1219169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F59E0B"/>
                </a:solidFill>
                <a:latin typeface="Arial"/>
              </a:rPr>
              <a:t>1 hour</a:t>
            </a:r>
          </a:p>
        </p:txBody>
      </p:sp>
    </p:spTree>
  </p:cSld>
  <p:clrMapOvr>
    <a:masterClrMapping/>
  </p:clrMapOvr>
</p:sld>
</file>

<file path=ppt/slides/slide1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TOPIC 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Mini Capstone Project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411480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Design · Build · Present · Assess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8320" y="640080"/>
            <a:ext cx="2286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>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191</a:t>
            </a:r>
          </a:p>
        </p:txBody>
      </p:sp>
    </p:spTree>
  </p:cSld>
  <p:clrMapOvr>
    <a:masterClrMapping/>
  </p:clrMapOvr>
</p:sld>
</file>

<file path=ppt/slides/slide1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BRING IT TOGETHER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Mini Capstone Project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In small groups, design and build an end-to-end automation using what you learned.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Include: a trigger, an AI agent with a tool or RAG source, an external API or storage, and a guardrail / human-in-the-loop step.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A worked example — Issue Reporting (form + image → Postgres + gallery) — is provided.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Deliverables: a working workflow, a short demo, and a 3–5 minute presentation.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192</a:t>
            </a:r>
          </a:p>
        </p:txBody>
      </p:sp>
    </p:spTree>
  </p:cSld>
  <p:clrMapOvr>
    <a:masterClrMapping/>
  </p:clrMapOvr>
</p:sld>
</file>

<file path=ppt/slides/slide1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WRAP-UP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Presentation &amp; Assessment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Present the problem, your design, and what you'd improve.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Written Assessment (SAQ) — 1 hour · Practical Performance (PP) — 1 hour.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Open book: slides, Learner Guide and approved materials.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Remember to take the Assessment digital attendance (TRAQOM).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193</a:t>
            </a:r>
          </a:p>
        </p:txBody>
      </p:sp>
    </p:spTree>
  </p:cSld>
  <p:clrMapOvr>
    <a:masterClrMapping/>
  </p:clrMapOvr>
</p:sld>
</file>

<file path=ppt/slides/slide1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468880"/>
            <a:ext cx="128016" cy="13716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46888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4800" b="1">
                <a:solidFill>
                  <a:srgbClr val="161B26"/>
                </a:solidFill>
                <a:latin typeface="Arial"/>
              </a:rPr>
              <a:t>Thank You!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61288" y="3749039"/>
            <a:ext cx="105156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0">
                <a:solidFill>
                  <a:srgbClr val="5B6372"/>
                </a:solidFill>
                <a:latin typeface="Arial"/>
              </a:rPr>
              <a:t>Keep your local n8n running and keep building your own agents.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Download all flows: github.com/tertiarycourses/TGS-2023035977-Agentic-AI-Automation-with-n8n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Powered by Tertiary Infotech Academy Pte Ltd  ·  www.tertiarycourses.com.sg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194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