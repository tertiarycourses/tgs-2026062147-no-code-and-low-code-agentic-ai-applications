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cours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LEARNER GUIDE  · 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Agentic AI Automation with n8n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93192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TGS-2023035977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trainer/administrator will display the digital attendance QR code generated from the SSG portal.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Dr. Alfred Ang — Principal Trainer, Tertiary Infotech Academy Pte. Ltd.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PhD; specialises in Artificial Intelligence, automation and software engineering.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Designs and delivers WSQ courses on AI agents, automation (n8n) and app development.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Your experience with automation or AI tools (if any).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What you want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One conversation at a time.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Step out quietly for calls or toilet breaks.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Access your course materials, attendance and assessment on the LMS/TMS portal.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Portal: https://lms-tms.tertiaryinfotech.com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Day 1 — Workflow Automation + AI Agents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Topic 1: n8n basics + Activities 1, 2, 3a, 3b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Topic 2: AI Agents — Activities 4a, 4b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Day 2 — RAG, Webhooks, APIs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RAG (Activity 5)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Webhooks (Activity 6) · APIs (Activity 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Day 3 — Security &amp; Capstone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Human-in-the-loop + Guardrails (Activity 8)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Mini Capstone + presentations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Daily timing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9:30am–6:30pm · 1-hour lunch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Short tea breaks within each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LO1: Build automated workflows in n8n using triggers, actions, nodes and flows.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LO2: Design AI agents with LLMs, memory and tools, triggered from chat / Telegram.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LO3: Apply Retrieval-Augmented Generation (RAG) to ground agents in your documents.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LO4: Integrate external systems via webhooks, APIs and HTTP requests.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LO5: Apply human-in-the-loop and guardrails to secure agentic automations.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Written Assessment (SAQ) — 1 hour.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Practical Performance (PP) — 1 hour.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Format: Open Book — slides, Learner Guide and approved materials only.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mini capstone project is presented on Day 3.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Workflow Automation with 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Triggers · Actions · Nodes · 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n8n?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workflow automation platform — connect apps and services with little or no code.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Visual editor: drag nodes onto a canvas and wire them together.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Runs in the cloud (trial) or self-hosted locally with Docker.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400+ integrations, HTTP/code nodes, and AI/LangChain nodes for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Why Automate?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Remove repetitive manual work and human error.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Connect systems that don't normally talk to each other.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React to events in real time (forms, webhooks, schedules).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Add AI to make workflows understand language and make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GET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Setting Up n8n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Option A — Cloud trial: sign up at n8n.io and start in the editor immediately.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Option B — Local Docker Compose (persistent): docker compose up -d → http://localhost:5678.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Trial Data Tables are not permanent — store anything you keep externally (Google Sheets).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See labs/n8n-installation/docker-compose.yml in the course repo.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ACCOUNTS &amp;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Credential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Add credentials once under Credentials → Add credential.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Gmail / Outlook (OAuth2) for email; OpenAI / Gemini for AI.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Telegram bot token (from @BotFather); Google Sheets (OAuth2).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Imported workflows reference credential names — re-select your own after importing.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UI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n8n Editor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Canvas — where you place and connect nodes.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Node panel — search 400+ nodes by name.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Execute Workflow — run and inspect data at each step.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Each node shows input and output data as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n8n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Triggers &amp;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Logic &amp;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Trigger nodes — start a workflow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Form, Webhook, Telegram, Schedule, Manual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Action nodes — do something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Gmail, Google Sheets, HTTP Request, Data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Logic nodes — control the flow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IF, Switch, Merge, Split Out, Code, Edit Fields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AI nodes — reason and act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AI Agent, Chat Model, Memory, Vector Store,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Triggers and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Trigger is the first node — it decides WHEN a workflow runs.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Manual &amp; Schedule triggers for testing and time-based jobs.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Form, Webhook and Telegram triggers respond to external events.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Actions run after the trigger — send email, store data, call an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Execution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Test execution — run manually in the editor to inspect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Production execution — runs automatically when Active.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Each run is recorded in the Execution History for debugging.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Structure &amp;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Data flows between nodes as a list of items, each a JSON object.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Each item has a json field with key/value pairs.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Nodes read the previous node's output and add to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DATA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Expressions &amp; Data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Expressions pull data from earlier nodes: {{ $json.Name }}.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Drag fields from the input panel to map them automatically.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Use expressions in any field — subject lines, URLs,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Pin Data &amp; Execution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Pin data to freeze a node's output while you build downstream nodes.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Edit output to test different scenarios without re-running triggers.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Execution History shows every run, its data, and any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SHAPING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Transforming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Edit Fields (Set) — add, rename or reshape fields.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Code node — run JavaScript/Python for custom logic.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Split Out — turn one item with a list into many items.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Merge — combine data from two branches (append, combine, choose).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Conditional Logic — IF &amp;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node — two outputs: true and false, based on a condition.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Switch node — many outputs for multiple cases.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Use them to route submissions, approvals, or message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Sub-Workflows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Break big automations into reusable smaller workflows.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Call a sub-workflow with the Execute Workflow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Keeps workflows readable and lets you reuse common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Collect a visitor's details with an n8n Form and email them to an admin, then turn the form URL into a QR code on an event flyer (group activity).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 Trigger  →  Gmail (Send)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formTrigger,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1-Flyer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47" y="1691640"/>
            <a:ext cx="990600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Form Trigger → Gmail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new workflow and add an n8n Form Trigger; set a Form Title.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four fields: Name, Email, Phone, Message (mark Name &amp; Email required).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Gmail node (Send a Message) after the Form Trigger.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Set To = admin address, Subject = New RSVP from {{ $json.Name }}, and a body using the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Select your Gmail credential, Save, and toggle the workflow 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Copy the Form's Production URL; paste it into the QR generator (alfredang.github.io/qrcodegenerator) and put the QR on a flyer.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Group activity: design an event flyer (e.g. bowling night) with the QR code, then present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— Flyer with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Scan the QR code, submit the form, and confirm the admin inbox receives the email.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Extend Activity 1 so every submission is also saved into an n8n Data Table — your first taste of storing data, not just forwarding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 Trigger  →  Gmail  +  Data Table (Insert row)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formTrigger, gmail, dataTable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2-Data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1691640"/>
            <a:ext cx="10332720" cy="36968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Form → Gmail + Data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 n8n open Data Tables and create a table 'RSVPs' with columns Name, Email, Phone,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Continue from your Activity 1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Data Table node (Insert Row) connected after the Form Trigger, alongside Gmail.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Map each form field to its column with expressions, e.g. Name → {{ $json.Name }}.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Save and keep the workflow 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— Capture Data in a Data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Submit the form and confirm a new row appears in the RSVPs Data Table and the email still sends.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3a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Add decision-making with an IF node. If the visitor is attending, save the date to the Data Table; if not, send a polite thank-you email.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 Trigger  →  IF  →  Data Table / Gmail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formTrigger, if, dataTable,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3a-Conditional-Data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80" y="1691640"/>
            <a:ext cx="7400134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IF routes to Data Table or a thank-you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an Attending? field (Yes/No dropdown) to the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an IF node after the Form Trigger: condition {{ $json.Attending }} equals Yes.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On the true output, add a Data Table → Insert Row to save the RSVP.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On the false output, add a Gmail node sending a friendly thank-you.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Save and keep the workflow 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3a — Conditional Response (Data Table)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Submit once with Attending = Yes (new Data Table row) and once with No (thank-you email).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Make data persistent by replacing the Data Table with Google Sheets (or Excel). Same logic — the Yes branch appends a row to a real spreadsheet you keep.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 Trigger  →  IF  →  Google Sheets / Gmail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formTrigger, if, googleSheets,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3b-Conditional-Google-Sh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69" y="1691640"/>
            <a:ext cx="9444556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IF routes to Google Sheets or a thank-you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Google Sheet 'Event RSVPs' with a header row: Name, Email, Phone,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Google Sheets credential (OAuth2) in n8n and authorise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Take Activity 3a; on the true branch replace the Data Table with a Google Sheets → Append Row 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Select your spreadsheet and sheet, then map each column to the form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Leave the false branch (thank-you email) unchanged; Save and keep 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WORKFLOW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3b — Conditional Response (Google Sheets)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Submit with Attending = Yes and confirm a new row is appended to your Google 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  ·  see you at 2:00 pm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LLM · Memory · Tools · System 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Agentic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Traditional automation follows fixed rules you wire by hand.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AI agent uses an LLM to understand language and decide what to do.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It can call tools, remember context, and handle open-ended requests.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Agentic = the AI takes actions toward a goal, not just answers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Agent Using an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LLM is the 'brain' that interprets the user and plans a response.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Tools give the agent abilities (look up data, search, call an API).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Memory lets it hold a conversation across messages.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system instruction sets its role, tone and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PIECES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Agent Concepts in n8n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Model &amp;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Tools &amp; Instruction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LLM — generates the replies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OpenAI gpt-4.1-mini or Google Gemini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Memory — recalls the conversation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Simple / window buffer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Tools — actions the agent can call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Data Table, Vector Store, HTTP, sub-workflow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System Instruction — role &amp; rules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Persona, scope, and do/don't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INSTRUCTION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Creating System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State the agent's role: 'You are an HR admin assistant.'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Give scope and limits: what it should and shouldn't answer.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Tell it which tool to use for which kind of question.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Keep it concise, specific and testable.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BEST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Agent Instruction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Be explicit about routing between multiple tools/sources.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Ask for a clear format when you need structured output.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Tell it to say 'I don't know' rather than invent answers.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Iterate: test with real questions and refine the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EXTENDING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Memory &amp;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Add memory so follow-up questions keep context.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Attach tools to the agent's Tool input; describe each tool clearly.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agent decides when to call a tool based on your description.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All agents in this course use OpenAI gpt-4.1-mini.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4a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Build your first AI agent: a customer-service chatbot you talk to from Telegram, using an LLM, memory and a system instruction.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Telegram Trigger  →  AI Agent (+ model + memory)  →  Telegram reply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telegramTrigger, agent, lmChatOpenAi, memory, 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4a-Telegram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49" y="1691640"/>
            <a:ext cx="10150797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Telegram-triggered AI agent with model +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 Telegram, open @BotFather → /newbot, then copy the bot token.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Telegram credential in n8n and paste the token.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Telegram Trigger node (fires on each message).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an AI Agent node after the trigger.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Attach an OpenAI Chat Model (gpt-4.1-mini) and a Simple Memory 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the system instruction (friendly customer-service assistant).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Telegram → Send Message: Chat ID = {{ $json.message.chat.id }}, Text = the agent output. Save &amp; Activate.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4a — Telegram AI Agent (Customer Service)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Message your bot in Telegram and confirm it replies.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Give the agent a tool: an employee Data Table it can query. The same bot now answers HR-admin questions from real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Telegram  →  AI Agent  +  Data Table Tool  →  reply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agent, dataTableTool, 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4b-Telegram-Data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85" y="1691640"/>
            <a:ext cx="9742725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Agent with a Data Table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Data Table 'Employees' and upload the provided employees.csv (100 records).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Open your Activity 4a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Data Table Tool and attach it to the AI Agent's Tool input.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Point the tool at the Employees table and describe it (look up staff by name/department).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Update the system instruction to use the Employees tool for staff questions. Save &amp; Activate.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4b — Agent + Data Table Tool (HR Admin)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Ask 'Which department is &lt;a name from the CSV&gt; in?' and confirm it answers from the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End of Day 1 —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built form automations, conditional logic and data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created a Telegram AI agent with memory and a Data Table tool.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Tomorrow: RAG, Webhooks and external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Tokenization · Embeddings · Vector Stores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RAG?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RAG lets an agent answer from YOUR documents, not just its training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Documents are split, embedded and stored; relevant chunks are retrieved per question.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Reduces hallucination and keeps answers grounded and current.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Text Embedding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Tokenization splits text into tokens the model can process.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embedding turns a chunk of text into a vector (list of numbers).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Similar meanings produce vectors that are close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VECTOR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Vector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Vectors are stored in a vector store (in-memory, Pinecone, etc.).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At query time, the question is embedded and the closest chunks are retrieved.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Those chunks are given to the LLM as context to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Upgrade the agent to answer from documents (policies/FAQs) AND the Data Table. It must route to the right source for each question — two knowledge sources, one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Telegram  →  AI Agent  +  Vector Store (RAG) + Data Table  →  reply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agent, vectorStoreInMemory, embeddingsOpenAi, dataTableTool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5-RAG-Tele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140" y="1691640"/>
            <a:ext cx="7067415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Agent routes between a RAG vector store and a Data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Prepare documents: use MyCompany-HR-SOP.docx / IT-Support-FAQ.docx, or generate FAQs with Claude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the ingestion path: upload → Embeddings (OpenAI) → Vector Store (Insert) with a Default Data Loader.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 your Telegram agent, add a Vector Store retrieval tool alongside the Data Table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Rewrite the system instruction to route: knowledge base for policy/FAQ, Data Table for staff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Save and keep Active; have a few learners present their chatbot.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— Add RAG to the Telegram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Ask a policy question and a staff-record question; confirm each is answered from the correct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External triggers for your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 Webhook?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Webhook is a URL that external systems call to trigger your workflow.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Use cases: website chat, form submissions, payments, app notifications.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Pair the Webhook trigger with a Respond to Webhook node to reply.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DIRECTION OF THE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HTTP Request vs Webhook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Outbound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HTTP Request node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YOUR workflow CALLS an external service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You pull data when you 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Webhook node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An external service CALLS your workflow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400">
                <a:solidFill>
                  <a:srgbClr val="161B26"/>
                </a:solidFill>
                <a:latin typeface="Arial"/>
              </a:rPr>
              <a:t>You react when an event happens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Webhook Node &amp;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Each Webhook node has a Test URL and a Production URL.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Set the HTTP method (GET/POST) and a path.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Set Allowed Origins (CORS) to * so a browser page can call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SECURING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Webhook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None — open endpoint (fine for demos).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Basic Auth — username &amp; password.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Header Auth — a secret key in a request header.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JWT — signed tokens for stronger security.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Expose an AI agent to a public website via a Webhook. The Investment Advisor page has an enquiry form and a floating chatbot; both post to one n8n webhook.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Webhook  →  AI Agent  →  Respond to Webhook  (+ email the advisor)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webhook, agent, respondToWebhook,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6-Investment-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512" y="1691640"/>
            <a:ext cx="699667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webhook, two paths: enquiry email + AI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Import Activity6-Investment-Advisor.json into n8n.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Open the Webhook node(s) and set Allowed Origins (CORS) to *.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Re-select your OpenAI and Gmail credentials on the agent and email nodes.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Review the compliance system instruction (no guaranteed returns, no personalised advice).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Save, Activate, and copy the webhook Production URL.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Open index.html, click the gear, and paste your webhook URL; have learners present their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4 · 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— Website Chatbot (Investment Advisor)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On the website, send a chat message and submit the enquiry form; confirm the bot replies and the advisor gets the email.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API &amp; HTTP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Pull live data from external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is an API?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API lets your workflow request data from another service over HTTP.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send a request; the service sends back a response (usually JSON).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APIs power live data: prices, weather, news, CRM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Components of an HTTP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Method — GET (read), POST (send), PUT, DELETE.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URL / endpoint — the address of the resource.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Headers — metadata, including authentication.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Query params / body — the inputs you send.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READING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HTTP Response &amp; Status 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Body — the data returned (often JSON).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200 OK — success; 201 Created.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401 Unauthorized — bad/missing API key; 429 — rate limited.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4xx = your request; 5xx = the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HTTP Request Node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Configure method, URL, headers and query parameters.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Store API keys in credentials, never hard-coded.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Parse the JSON response and pass fields to the next node.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Ask the Telegram bot about a stock; it resolves the ticker, pulls candles from Twelve Data and headlines from NewsAPI, and replies with a Buy/Sell/Hold call and reasoning.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Telegram → Extract ticker → HTTP (Twelve Data + NewsAPI) → AI Agent → reply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telegram, httpRequest, agent, lmChatOpenAi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7-Finance-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512" y="1691640"/>
            <a:ext cx="699667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Multi-timeframe candles + news → AI day-trading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Get free API keys: Twelve Data (twelvedata.com/login) and NewsAPI (newsapi.org).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Import Activity7-Finance-Advisor.json into n8n.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Set your Twelve Data and NewsAPI keys (credentials or HTTP query params).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Re-select your OpenAI and Telegram credentials.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Review the flow: Telegram → Extract Ticker → HTTP candles (1m/15m/1h) + news → Aggregate → AI Agent → reply.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Save, Activate; optionally open index.html and set your key + bot username.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5 · API &amp;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— Finance API → Telegram (Day Trader)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Message the bot 'Should I buy AAPL?' and confirm it returns a recommendation with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End of Day 2 —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grounded an agent with RAG over your own documents.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exposed an agent to a website via a webhook.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pulled live market + news data through APIs into a Telegram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&amp;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Human-in-the-loop · Pre/Post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Human in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Some actions are too sensitive to fully automate — money, hiring, sending on behalf.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human-in-the-loop step pauses the workflow for a person to Approve or Reject.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n8n's Send and Wait for Response captures that decision (email / Telegram).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Model a leave-application approval: a request comes in, a manager is asked to approve, and the flow only continues — recording the leave and confirming — on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 → Manager Approval (Send &amp; Wait) → IF → confirm / decline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formTrigger, gmail (sendAndWait), 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8a-Human-in-th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1691640"/>
            <a:ext cx="10332720" cy="3812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Approval pauses the flow until a manager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Start with a Form Trigger collecting Employee, Email, Dates, Reason.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 Gmail → Send and Wait for Response (Approval) addressed to the manager.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an IF node on the approval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On Approved: record the leave (Data Table) and email a confirmation.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On Rejected: email the employee that the request was declined. Save &amp; Activate.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8a — Human-in-the-Loop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Submit a leave request, approve it from the manager email, and confirm the employee gets a confirmation.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Pre-guardrail — validate/sanitise the input (block prompt-injection, PII) before the LLM.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Post-guardrail — check the output (no secrets, no disallowed content) before sending.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On a violation, route to a safe fallback or human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 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Wrap an AI agent so unsafe input never reaches the model and unsafe output never reaches the user. Add a pre-check before the agent and a post-check after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Webhook → Pre-check → AI Agent → Post-check → Respond /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nodes:  </a:t>
            </a:r>
            <a:r>
              <a:rPr sz="1300" b="0">
                <a:solidFill>
                  <a:srgbClr val="5B6372"/>
                </a:solidFill>
                <a:latin typeface="Arial"/>
              </a:rPr>
              <a:t>webhook, if, agent, respondToWebhook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8b-Guardr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21" y="1691640"/>
            <a:ext cx="9368653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Pre/post checks gate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Start from the Activity 6 webhook agent (or the Telegram agent).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Before the AI Agent, add a check that inspects the user message; on a violation, branch to a safe canned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After the AI Agent, add a check that scans the reply for secrets/policy violations.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Only send the reply when both guardrails pass; otherwise return a safe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144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Save and keep 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6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8b — Pre &amp; Post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Send a normal question (passes through) and a disallowed one (blocked by the pre-guardrail).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Mini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Design · Build · Present · Assess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BRING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Mini Capstone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In small groups, design and build an end-to-end automation using what you learned.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Include: a trigger, an AI agent with a tool or RAG source, an external API or storage, and a guardrail / human-in-the-loop step.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worked example — Issue Reporting (form + image → Postgres + gallery) — is provided.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Deliverables: a working workflow, a short demo, and a 3–5 minute presentation.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Presentation &amp;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Present the problem, your design, and what you'd improve.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Written Assessment (SAQ) — 1 hour · Practical Performance (PP) — 1 hour.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Open book: slides, Learner Guide and approved materials.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46888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688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37490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Keep your local n8n running and keep building your own agents.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Download all flows: github.com/tertiarycourses/TGS-2023035977-Agentic-AI-Automation-with-n8n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Powered by Tertiary Infotech Academy Pte Ltd  ·  www.tertiarycourses.com.sg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Automation with n8n  ·  TGS-2023035977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